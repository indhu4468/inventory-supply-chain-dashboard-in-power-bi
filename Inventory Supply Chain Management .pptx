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3"/>
  </p:notesMasterIdLst>
  <p:sldIdLst>
    <p:sldId id="286" r:id="rId4"/>
    <p:sldId id="259" r:id="rId5"/>
    <p:sldId id="261" r:id="rId6"/>
    <p:sldId id="266" r:id="rId7"/>
    <p:sldId id="263" r:id="rId8"/>
    <p:sldId id="268" r:id="rId9"/>
    <p:sldId id="257" r:id="rId10"/>
    <p:sldId id="258" r:id="rId11"/>
    <p:sldId id="282" r:id="rId12"/>
    <p:sldId id="288" r:id="rId14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75058a-457f-4c38-8164-f556bfe8c236}">
          <p14:sldIdLst>
            <p14:sldId id="286"/>
            <p14:sldId id="259"/>
            <p14:sldId id="261"/>
            <p14:sldId id="266"/>
            <p14:sldId id="263"/>
            <p14:sldId id="268"/>
            <p14:sldId id="257"/>
            <p14:sldId id="258"/>
            <p14:sldId id="282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41" userDrawn="1">
          <p15:clr>
            <a:srgbClr val="A4A3A4"/>
          </p15:clr>
        </p15:guide>
        <p15:guide id="2" pos="37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85E"/>
    <a:srgbClr val="FFC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241"/>
        <p:guide pos="37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19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3" Type="http://schemas.openxmlformats.org/officeDocument/2006/relationships/image" Target="../media/image3.png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5.xml"/><Relationship Id="rId19" Type="http://schemas.openxmlformats.org/officeDocument/2006/relationships/tags" Target="../tags/tag20.xml"/><Relationship Id="rId18" Type="http://schemas.microsoft.com/office/2007/relationships/hdphoto" Target="../media/image2.wdp"/><Relationship Id="rId17" Type="http://schemas.openxmlformats.org/officeDocument/2006/relationships/image" Target="../media/image1.png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microsoft.com/office/2007/relationships/hdphoto" Target="../media/image5.wdp"/><Relationship Id="rId11" Type="http://schemas.openxmlformats.org/officeDocument/2006/relationships/image" Target="../media/image4.png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microsoft.com/office/2007/relationships/hdphoto" Target="../media/image2.wdp"/><Relationship Id="rId8" Type="http://schemas.openxmlformats.org/officeDocument/2006/relationships/image" Target="../media/image1.png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image" Target="../media/image6.png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 lIns="0" tIns="0" rIns="0" bIns="0">
            <a:normAutofit/>
          </a:bodyPr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/>
          <p:cNvSpPr/>
          <p:nvPr userDrawn="1">
            <p:custDataLst>
              <p:tags r:id="rId3"/>
            </p:custDataLst>
          </p:nvPr>
        </p:nvSpPr>
        <p:spPr>
          <a:xfrm>
            <a:off x="279400" y="225425"/>
            <a:ext cx="11658600" cy="6407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矩形: 单圆角 8"/>
          <p:cNvSpPr/>
          <p:nvPr userDrawn="1">
            <p:custDataLst>
              <p:tags r:id="rId4"/>
            </p:custDataLst>
          </p:nvPr>
        </p:nvSpPr>
        <p:spPr>
          <a:xfrm>
            <a:off x="10782299" y="0"/>
            <a:ext cx="1409701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279400" y="225425"/>
            <a:ext cx="11658600" cy="640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 flipH="1">
            <a:off x="1277113" y="5884012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8512492" y="1101589"/>
            <a:ext cx="3239778" cy="3239778"/>
          </a:xfrm>
          <a:prstGeom prst="ellipse">
            <a:avLst/>
          </a:prstGeom>
          <a:gradFill>
            <a:gsLst>
              <a:gs pos="100000">
                <a:schemeClr val="accent1">
                  <a:alpha val="7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8"/>
            </p:custDataLst>
          </p:nvPr>
        </p:nvSpPr>
        <p:spPr>
          <a:xfrm>
            <a:off x="6915671" y="2408257"/>
            <a:ext cx="626441" cy="626441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70000"/>
                </a:schemeClr>
              </a:gs>
              <a:gs pos="33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1276985" y="1313815"/>
            <a:ext cx="6304915" cy="260731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276985" y="4085590"/>
            <a:ext cx="5140325" cy="65278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rgbClr val="5F5F5F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277113" y="637722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B2B2B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259652" y="4951191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25" name="图片 24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38961" t="14119" r="52687" b="72877"/>
          <a:stretch>
            <a:fillRect/>
          </a:stretch>
        </p:blipFill>
        <p:spPr>
          <a:xfrm flipH="1">
            <a:off x="10778656" y="2304618"/>
            <a:ext cx="673100" cy="76193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64719" t="71327" r="23650" b="15199"/>
          <a:stretch>
            <a:fillRect/>
          </a:stretch>
        </p:blipFill>
        <p:spPr>
          <a:xfrm>
            <a:off x="7108139" y="2796054"/>
            <a:ext cx="790002" cy="665304"/>
          </a:xfrm>
          <a:custGeom>
            <a:avLst/>
            <a:gdLst>
              <a:gd name="connsiteX0" fmla="*/ 234115 w 790002"/>
              <a:gd name="connsiteY0" fmla="*/ 0 h 665304"/>
              <a:gd name="connsiteX1" fmla="*/ 339492 w 790002"/>
              <a:gd name="connsiteY1" fmla="*/ 0 h 665304"/>
              <a:gd name="connsiteX2" fmla="*/ 790002 w 790002"/>
              <a:gd name="connsiteY2" fmla="*/ 345391 h 665304"/>
              <a:gd name="connsiteX3" fmla="*/ 790002 w 790002"/>
              <a:gd name="connsiteY3" fmla="*/ 502571 h 665304"/>
              <a:gd name="connsiteX4" fmla="*/ 426565 w 790002"/>
              <a:gd name="connsiteY4" fmla="*/ 665304 h 665304"/>
              <a:gd name="connsiteX5" fmla="*/ 110821 w 790002"/>
              <a:gd name="connsiteY5" fmla="*/ 665304 h 665304"/>
              <a:gd name="connsiteX6" fmla="*/ 0 w 790002"/>
              <a:gd name="connsiteY6" fmla="*/ 543759 h 665304"/>
              <a:gd name="connsiteX7" fmla="*/ 0 w 790002"/>
              <a:gd name="connsiteY7" fmla="*/ 258759 h 6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002" h="665304">
                <a:moveTo>
                  <a:pt x="234115" y="0"/>
                </a:moveTo>
                <a:lnTo>
                  <a:pt x="339492" y="0"/>
                </a:lnTo>
                <a:lnTo>
                  <a:pt x="790002" y="345391"/>
                </a:lnTo>
                <a:lnTo>
                  <a:pt x="790002" y="502571"/>
                </a:lnTo>
                <a:lnTo>
                  <a:pt x="426565" y="665304"/>
                </a:lnTo>
                <a:lnTo>
                  <a:pt x="110821" y="665304"/>
                </a:lnTo>
                <a:lnTo>
                  <a:pt x="0" y="543759"/>
                </a:lnTo>
                <a:lnTo>
                  <a:pt x="0" y="258759"/>
                </a:lnTo>
                <a:close/>
              </a:path>
            </a:pathLst>
          </a:custGeom>
        </p:spPr>
      </p:pic>
      <p:pic>
        <p:nvPicPr>
          <p:cNvPr id="30" name="图片 29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19428" t="46114" r="76453" b="45859"/>
          <a:stretch>
            <a:fillRect/>
          </a:stretch>
        </p:blipFill>
        <p:spPr>
          <a:xfrm>
            <a:off x="10362327" y="4958994"/>
            <a:ext cx="331943" cy="470399"/>
          </a:xfrm>
          <a:prstGeom prst="rect">
            <a:avLst/>
          </a:prstGeom>
        </p:spPr>
      </p:pic>
      <p:sp>
        <p:nvSpPr>
          <p:cNvPr id="32" name="任意多边形: 形状 31"/>
          <p:cNvSpPr/>
          <p:nvPr userDrawn="1">
            <p:custDataLst>
              <p:tags r:id="rId21"/>
            </p:custDataLst>
          </p:nvPr>
        </p:nvSpPr>
        <p:spPr>
          <a:xfrm flipH="1">
            <a:off x="10403540" y="1808691"/>
            <a:ext cx="581460" cy="23029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3" t="17820" r="11674" b="13408"/>
          <a:stretch>
            <a:fillRect/>
          </a:stretch>
        </p:blipFill>
        <p:spPr>
          <a:xfrm flipH="1">
            <a:off x="6417588" y="1091020"/>
            <a:ext cx="5410199" cy="4406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+mn-lt"/>
                <a:cs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单圆角 4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1637836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 userDrawn="1">
            <p:custDataLst>
              <p:tags r:id="rId5"/>
            </p:custDataLst>
          </p:nvPr>
        </p:nvSpPr>
        <p:spPr>
          <a:xfrm>
            <a:off x="279400" y="225424"/>
            <a:ext cx="11658600" cy="640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 userDrawn="1">
            <p:custDataLst>
              <p:tags r:id="rId6"/>
            </p:custDataLst>
          </p:nvPr>
        </p:nvSpPr>
        <p:spPr>
          <a:xfrm>
            <a:off x="279400" y="225424"/>
            <a:ext cx="11658600" cy="640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7"/>
            </p:custDataLst>
          </p:nvPr>
        </p:nvSpPr>
        <p:spPr>
          <a:xfrm rot="16200000">
            <a:off x="11057880" y="3426678"/>
            <a:ext cx="827928" cy="10624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814290" y="4830696"/>
            <a:ext cx="1545015" cy="1545015"/>
          </a:xfrm>
          <a:prstGeom prst="ellipse">
            <a:avLst/>
          </a:prstGeom>
          <a:gradFill>
            <a:gsLst>
              <a:gs pos="100000">
                <a:schemeClr val="accent1">
                  <a:alpha val="7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 flipH="1">
            <a:off x="1257658" y="653252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24359" t="13842" r="17500" b="15194"/>
          <a:stretch>
            <a:fillRect/>
          </a:stretch>
        </p:blipFill>
        <p:spPr>
          <a:xfrm>
            <a:off x="1183399" y="4833670"/>
            <a:ext cx="1545015" cy="13710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271905" y="2433320"/>
            <a:ext cx="3293110" cy="1081405"/>
          </a:xfrm>
        </p:spPr>
        <p:txBody>
          <a:bodyPr wrap="square" anchor="b">
            <a:noAutofit/>
          </a:bodyPr>
          <a:lstStyle>
            <a:lvl1pPr algn="ctr">
              <a:defRPr sz="45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0" y="234426"/>
            <a:ext cx="9810419" cy="6407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单圆角 9"/>
          <p:cNvSpPr/>
          <p:nvPr userDrawn="1">
            <p:custDataLst>
              <p:tags r:id="rId4"/>
            </p:custDataLst>
          </p:nvPr>
        </p:nvSpPr>
        <p:spPr>
          <a:xfrm>
            <a:off x="9542208" y="0"/>
            <a:ext cx="2649792" cy="6857999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 flipH="1">
            <a:off x="1278365" y="1098161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7617630" y="1390308"/>
            <a:ext cx="2255719" cy="2255719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000">
                <a:schemeClr val="accent1">
                  <a:lumMod val="40000"/>
                  <a:lumOff val="60000"/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17164" t="14119" r="19643" b="14233"/>
          <a:stretch>
            <a:fillRect/>
          </a:stretch>
        </p:blipFill>
        <p:spPr>
          <a:xfrm>
            <a:off x="6633020" y="1191809"/>
            <a:ext cx="5092763" cy="4198158"/>
          </a:xfrm>
          <a:prstGeom prst="rect">
            <a:avLst/>
          </a:prstGeom>
        </p:spPr>
      </p:pic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7611573" y="4881439"/>
            <a:ext cx="541827" cy="541827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接连接符 14"/>
          <p:cNvCxnSpPr/>
          <p:nvPr userDrawn="1">
            <p:custDataLst>
              <p:tags r:id="rId11"/>
            </p:custDataLst>
          </p:nvPr>
        </p:nvCxnSpPr>
        <p:spPr>
          <a:xfrm>
            <a:off x="1282700" y="5803178"/>
            <a:ext cx="568880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281430" y="3268345"/>
            <a:ext cx="6488430" cy="1913255"/>
          </a:xfrm>
        </p:spPr>
        <p:txBody>
          <a:bodyPr wrap="square" anchor="t" anchorCtr="0">
            <a:normAutofit/>
          </a:bodyPr>
          <a:lstStyle>
            <a:lvl1pPr algn="l">
              <a:defRPr sz="4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1281466" y="1800622"/>
            <a:ext cx="5472905" cy="1357542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6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8" name="任意多边形: 形状 17"/>
          <p:cNvSpPr/>
          <p:nvPr userDrawn="1">
            <p:custDataLst>
              <p:tags r:id="rId17"/>
            </p:custDataLst>
          </p:nvPr>
        </p:nvSpPr>
        <p:spPr>
          <a:xfrm>
            <a:off x="10276635" y="5750057"/>
            <a:ext cx="827928" cy="10624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矩形 22"/>
          <p:cNvSpPr/>
          <p:nvPr userDrawn="1">
            <p:custDataLst>
              <p:tags r:id="rId3"/>
            </p:custDataLst>
          </p:nvPr>
        </p:nvSpPr>
        <p:spPr>
          <a:xfrm>
            <a:off x="1944914" y="225426"/>
            <a:ext cx="9983561" cy="64071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1944914" y="225426"/>
            <a:ext cx="9983561" cy="6407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: 单圆角 8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2882899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 flipH="1">
            <a:off x="10247086" y="740626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1268402" y="5825928"/>
            <a:ext cx="827928" cy="10624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accent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3289092" y="1286337"/>
            <a:ext cx="1906386" cy="1906386"/>
          </a:xfrm>
          <a:prstGeom prst="ellipse">
            <a:avLst/>
          </a:prstGeom>
          <a:gradFill>
            <a:gsLst>
              <a:gs pos="100000">
                <a:schemeClr val="accent1">
                  <a:alpha val="48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9"/>
            </p:custDataLst>
          </p:nvPr>
        </p:nvSpPr>
        <p:spPr>
          <a:xfrm>
            <a:off x="3276167" y="5039818"/>
            <a:ext cx="420161" cy="420161"/>
          </a:xfrm>
          <a:prstGeom prst="ellipse">
            <a:avLst/>
          </a:prstGeom>
          <a:gradFill>
            <a:gsLst>
              <a:gs pos="83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 flipH="1">
            <a:off x="4064196" y="5172221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 l="13952" t="4910" r="10882" b="10539"/>
          <a:stretch>
            <a:fillRect/>
          </a:stretch>
        </p:blipFill>
        <p:spPr>
          <a:xfrm>
            <a:off x="615339" y="1286337"/>
            <a:ext cx="5103219" cy="41736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5156835" y="1325245"/>
            <a:ext cx="5955665" cy="24511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8232500" y="5140099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20" Type="http://schemas.openxmlformats.org/officeDocument/2006/relationships/tags" Target="../tags/tag108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image" Target="../media/image7.png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print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1243" y="284651"/>
            <a:ext cx="913256" cy="83612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../media/image8.jpeg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jpeg"/><Relationship Id="rId1" Type="http://schemas.openxmlformats.org/officeDocument/2006/relationships/tags" Target="../tags/tag1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.jpeg"/><Relationship Id="rId13" Type="http://schemas.openxmlformats.org/officeDocument/2006/relationships/image" Target="../media/image10.jpeg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52.xml"/><Relationship Id="rId2" Type="http://schemas.openxmlformats.org/officeDocument/2006/relationships/tags" Target="../tags/tag134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.jpeg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image" Target="../media/image14.jpeg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image" Target="../media/image13.jpe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86.xml"/><Relationship Id="rId14" Type="http://schemas.openxmlformats.org/officeDocument/2006/relationships/image" Target="../media/image16.jpeg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image" Target="../media/image15.jpeg"/><Relationship Id="rId1" Type="http://schemas.openxmlformats.org/officeDocument/2006/relationships/tags" Target="../tags/tag17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image" Target="../media/image19.jpeg"/><Relationship Id="rId5" Type="http://schemas.openxmlformats.org/officeDocument/2006/relationships/tags" Target="../tags/tag189.xml"/><Relationship Id="rId4" Type="http://schemas.openxmlformats.org/officeDocument/2006/relationships/image" Target="../media/image18.jpeg"/><Relationship Id="rId3" Type="http://schemas.openxmlformats.org/officeDocument/2006/relationships/tags" Target="../tags/tag188.xml"/><Relationship Id="rId2" Type="http://schemas.openxmlformats.org/officeDocument/2006/relationships/image" Target="../media/image17.jpe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98.xml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tags" Target="../tags/tag203.xml"/><Relationship Id="rId7" Type="http://schemas.openxmlformats.org/officeDocument/2006/relationships/image" Target="../media/image22.jpeg"/><Relationship Id="rId6" Type="http://schemas.openxmlformats.org/officeDocument/2006/relationships/tags" Target="../tags/tag202.xml"/><Relationship Id="rId5" Type="http://schemas.openxmlformats.org/officeDocument/2006/relationships/image" Target="../media/image21.jpeg"/><Relationship Id="rId4" Type="http://schemas.openxmlformats.org/officeDocument/2006/relationships/tags" Target="../tags/tag201.xml"/><Relationship Id="rId3" Type="http://schemas.openxmlformats.org/officeDocument/2006/relationships/image" Target="../media/image20.png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16.xml"/><Relationship Id="rId21" Type="http://schemas.openxmlformats.org/officeDocument/2006/relationships/tags" Target="../tags/tag215.xml"/><Relationship Id="rId20" Type="http://schemas.openxmlformats.org/officeDocument/2006/relationships/tags" Target="../tags/tag214.xml"/><Relationship Id="rId2" Type="http://schemas.openxmlformats.org/officeDocument/2006/relationships/tags" Target="../tags/tag200.xml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69570" y="1209675"/>
            <a:ext cx="6641465" cy="260731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Lucida Bright" panose="02040602050505020304" charset="0"/>
                <a:cs typeface="Lucida Bright" panose="02040602050505020304" charset="0"/>
              </a:rPr>
              <a:t>INVENTORY SUPPLY CHAIN MANAGEMENT</a:t>
            </a:r>
            <a:endParaRPr lang="en-US" dirty="0">
              <a:solidFill>
                <a:schemeClr val="accent2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13765" y="3921125"/>
            <a:ext cx="5140325" cy="652780"/>
          </a:xfrm>
        </p:spPr>
        <p:txBody>
          <a:bodyPr/>
          <a:lstStyle/>
          <a:p>
            <a:r>
              <a:rPr lang="en-US" altLang="en-US"/>
              <a:t>Power BI End-to-End Project</a:t>
            </a:r>
            <a:endParaRPr lang="en-US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690245" y="5497195"/>
            <a:ext cx="3190240" cy="918210"/>
          </a:xfrm>
        </p:spPr>
        <p:txBody>
          <a:bodyPr>
            <a:noAutofit/>
          </a:bodyPr>
          <a:lstStyle/>
          <a:p>
            <a:pPr algn="l"/>
            <a:r>
              <a:rPr lang="en-US"/>
              <a:t> 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Presented by:</a:t>
            </a:r>
            <a:endParaRPr lang="en-US"/>
          </a:p>
          <a:p>
            <a:pPr algn="l"/>
            <a:r>
              <a:rPr lang="en-US" sz="2800">
                <a:latin typeface="Lucida Bright" panose="02040602050505020304" charset="0"/>
                <a:cs typeface="Lucida Bright" panose="02040602050505020304" charset="0"/>
              </a:rPr>
              <a:t> Indhumathi S</a:t>
            </a:r>
            <a:endParaRPr lang="en-US" sz="2800">
              <a:latin typeface="Lucida Bright" panose="02040602050505020304" charset="0"/>
              <a:cs typeface="Lucida Bright" panose="020406020505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055" y="339090"/>
            <a:ext cx="11311255" cy="915670"/>
          </a:xfrm>
          <a:solidFill>
            <a:schemeClr val="bg1"/>
          </a:solidFill>
        </p:spPr>
        <p:txBody>
          <a:bodyPr/>
          <a:p>
            <a:pPr algn="ctr"/>
            <a:r>
              <a:rPr lang="en-US" altLang="en-US"/>
              <a:t>Business Challenges &amp; Strategic Objectives</a:t>
            </a:r>
            <a:endParaRPr lang="en-US" altLang="en-US"/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62585" y="1770380"/>
            <a:ext cx="5071110" cy="5086985"/>
          </a:xfrm>
          <a:prstGeom prst="ellipse">
            <a:avLst/>
          </a:prstGeom>
          <a:noFill/>
          <a:ln w="1905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矩形 2"/>
          <p:cNvSpPr/>
          <p:nvPr>
            <p:custDataLst>
              <p:tags r:id="rId2"/>
            </p:custDataLst>
          </p:nvPr>
        </p:nvSpPr>
        <p:spPr>
          <a:xfrm>
            <a:off x="1483365" y="3504364"/>
            <a:ext cx="3394455" cy="1934940"/>
          </a:xfrm>
          <a:prstGeom prst="rect">
            <a:avLst/>
          </a:prstGeom>
        </p:spPr>
        <p:txBody>
          <a:bodyPr wrap="square" lIns="0" tIns="0" rIns="0" bIns="0"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 clear visibility on sales trends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Shipping delays impacting customer satisfaction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High late delivery risk by product/category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Poor inventory &amp; demand alignment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Hard to identify top vs low performing products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矩形 3"/>
          <p:cNvSpPr/>
          <p:nvPr>
            <p:custDataLst>
              <p:tags r:id="rId3"/>
            </p:custDataLst>
          </p:nvPr>
        </p:nvSpPr>
        <p:spPr>
          <a:xfrm>
            <a:off x="1174846" y="3038563"/>
            <a:ext cx="2869834" cy="3638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Business Challenges </a:t>
            </a:r>
            <a:endParaRPr lang="en-US" altLang="en-US" sz="2400" b="1" kern="0" dirty="0">
              <a:solidFill>
                <a:schemeClr val="accent2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6" name="椭圆 5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749290" y="1770380"/>
            <a:ext cx="4937760" cy="4922520"/>
          </a:xfrm>
          <a:prstGeom prst="ellipse">
            <a:avLst/>
          </a:prstGeom>
          <a:noFill/>
          <a:ln w="1905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 4"/>
          <p:cNvSpPr/>
          <p:nvPr>
            <p:custDataLst>
              <p:tags r:id="rId5"/>
            </p:custDataLst>
          </p:nvPr>
        </p:nvSpPr>
        <p:spPr>
          <a:xfrm>
            <a:off x="6442079" y="3504364"/>
            <a:ext cx="3536205" cy="1935567"/>
          </a:xfrm>
          <a:prstGeom prst="rect">
            <a:avLst/>
          </a:prstGeom>
        </p:spPr>
        <p:txBody>
          <a:bodyPr wrap="square" lIns="0" tIns="0" rIns="0" bIns="0"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Track monthly sales &amp; profit trends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Identify delay-prone products &amp; categories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Monitor late delivery %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 supply chain efficiency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 data-driven decisions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6"/>
          <p:cNvSpPr/>
          <p:nvPr>
            <p:custDataLst>
              <p:tags r:id="rId6"/>
            </p:custDataLst>
          </p:nvPr>
        </p:nvSpPr>
        <p:spPr>
          <a:xfrm>
            <a:off x="6198784" y="3025391"/>
            <a:ext cx="2869834" cy="3638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r>
              <a:rPr lang="en-US" altLang="en-US" sz="2400" b="1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 Strategic Objectives</a:t>
            </a:r>
            <a:endParaRPr lang="en-US" altLang="en-US" sz="2400" b="1" kern="0" dirty="0">
              <a:solidFill>
                <a:schemeClr val="accent2"/>
              </a:solidFill>
              <a:latin typeface="+mj-lt"/>
              <a:cs typeface="+mj-lt"/>
              <a:sym typeface="+mn-ea"/>
            </a:endParaRPr>
          </a:p>
        </p:txBody>
      </p:sp>
      <p:pic>
        <p:nvPicPr>
          <p:cNvPr id="13" name="图片 12" descr="C:/Users/sree/Downloads/fd45c5_5656a47438e74edfbb8a1dcf7d06f00f~mv2.jpgfd45c5_5656a47438e74edfbb8a1dcf7d06f00f~mv2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/>
          <a:srcRect l="917" t="4294" r="4030" b="1083"/>
          <a:stretch>
            <a:fillRect/>
          </a:stretch>
        </p:blipFill>
        <p:spPr>
          <a:xfrm>
            <a:off x="8779510" y="1534160"/>
            <a:ext cx="1907540" cy="1847215"/>
          </a:xfrm>
          <a:custGeom>
            <a:avLst/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ln w="12700" cap="flat" cmpd="sng" algn="ctr">
            <a:solidFill>
              <a:srgbClr val="FF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2" name="图片 21" descr="C:/Users/sree/Downloads/online-competition-header.jpgonline-competition-header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 l="29250" t="1772" r="13352" b="-1772"/>
          <a:stretch>
            <a:fillRect/>
          </a:stretch>
        </p:blipFill>
        <p:spPr>
          <a:xfrm>
            <a:off x="3813446" y="1446491"/>
            <a:ext cx="1934940" cy="1934940"/>
          </a:xfrm>
          <a:custGeom>
            <a:avLst/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ln w="12700" cap="flat" cmpd="sng" algn="ctr">
            <a:solidFill>
              <a:srgbClr val="FF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5" name="Flowchart: Process 24"/>
          <p:cNvSpPr/>
          <p:nvPr/>
        </p:nvSpPr>
        <p:spPr>
          <a:xfrm>
            <a:off x="7912100" y="4231005"/>
            <a:ext cx="3928110" cy="2142490"/>
          </a:xfrm>
          <a:prstGeom prst="flowChartProcess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ectangles 21"/>
          <p:cNvSpPr/>
          <p:nvPr/>
        </p:nvSpPr>
        <p:spPr>
          <a:xfrm>
            <a:off x="7912100" y="1373505"/>
            <a:ext cx="3863975" cy="2578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615"/>
          </a:xfrm>
          <a:solidFill>
            <a:schemeClr val="bg1"/>
          </a:solidFill>
        </p:spPr>
        <p:txBody>
          <a:bodyPr>
            <a:noAutofit/>
          </a:bodyPr>
          <a:p>
            <a:pPr algn="ctr"/>
            <a:r>
              <a:rPr lang="en-US" altLang="en-US" sz="4800"/>
              <a:t>Dataset Overview</a:t>
            </a:r>
            <a:endParaRPr lang="en-US" altLang="en-US" sz="4800"/>
          </a:p>
        </p:txBody>
      </p:sp>
      <p:sp>
        <p:nvSpPr>
          <p:cNvPr id="4" name="圆角矩形 1"/>
          <p:cNvSpPr/>
          <p:nvPr>
            <p:custDataLst>
              <p:tags r:id="rId1"/>
            </p:custDataLst>
          </p:nvPr>
        </p:nvSpPr>
        <p:spPr>
          <a:xfrm>
            <a:off x="717733" y="1190226"/>
            <a:ext cx="7000038" cy="107223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12" name="圆角矩形 11"/>
          <p:cNvSpPr/>
          <p:nvPr>
            <p:custDataLst>
              <p:tags r:id="rId2"/>
            </p:custDataLst>
          </p:nvPr>
        </p:nvSpPr>
        <p:spPr>
          <a:xfrm>
            <a:off x="496406" y="1363523"/>
            <a:ext cx="2385919" cy="74835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fontScale="8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📁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  </a:t>
            </a:r>
            <a:r>
              <a:rPr lang="en-US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Data Model Structure</a:t>
            </a:r>
            <a:endParaRPr lang="en-US" altLang="en-US" sz="20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5" name="矩形 2"/>
          <p:cNvSpPr/>
          <p:nvPr>
            <p:custDataLst>
              <p:tags r:id="rId3"/>
            </p:custDataLst>
          </p:nvPr>
        </p:nvSpPr>
        <p:spPr>
          <a:xfrm>
            <a:off x="3058219" y="1149985"/>
            <a:ext cx="8145617" cy="1012523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Star Schema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One-to-Many Relationships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Central Fact table with supporting Dimension tables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圆角矩形 7"/>
          <p:cNvSpPr/>
          <p:nvPr>
            <p:custDataLst>
              <p:tags r:id="rId4"/>
            </p:custDataLst>
          </p:nvPr>
        </p:nvSpPr>
        <p:spPr>
          <a:xfrm>
            <a:off x="718382" y="5276016"/>
            <a:ext cx="6999389" cy="14201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18" name="圆角矩形 11"/>
          <p:cNvSpPr/>
          <p:nvPr>
            <p:custDataLst>
              <p:tags r:id="rId5"/>
            </p:custDataLst>
          </p:nvPr>
        </p:nvSpPr>
        <p:spPr>
          <a:xfrm>
            <a:off x="496406" y="5546022"/>
            <a:ext cx="2387217" cy="82754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fontScale="9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🎯</a:t>
            </a:r>
            <a:r>
              <a:rPr lang="en-US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  Purpose of Dataset</a:t>
            </a:r>
            <a:endParaRPr lang="en-US" altLang="en-US" sz="20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0" name="矩形 4"/>
          <p:cNvSpPr/>
          <p:nvPr>
            <p:custDataLst>
              <p:tags r:id="rId6"/>
            </p:custDataLst>
          </p:nvPr>
        </p:nvSpPr>
        <p:spPr>
          <a:xfrm>
            <a:off x="3058219" y="5355849"/>
            <a:ext cx="7970373" cy="1155964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Analyze Sales &amp; Profit trends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Track Shipping performance &amp; delays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Identify Late Delivery risk by Product &amp; Category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Support monthly &amp; yearly business insights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1" name="圆角矩形 8"/>
          <p:cNvSpPr/>
          <p:nvPr>
            <p:custDataLst>
              <p:tags r:id="rId7"/>
            </p:custDataLst>
          </p:nvPr>
        </p:nvSpPr>
        <p:spPr>
          <a:xfrm>
            <a:off x="822879" y="3971419"/>
            <a:ext cx="6894242" cy="115271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43" name="圆角矩形 11"/>
          <p:cNvSpPr/>
          <p:nvPr>
            <p:custDataLst>
              <p:tags r:id="rId8"/>
            </p:custDataLst>
          </p:nvPr>
        </p:nvSpPr>
        <p:spPr>
          <a:xfrm>
            <a:off x="496406" y="4151856"/>
            <a:ext cx="2385919" cy="7477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🔗</a:t>
            </a:r>
            <a:r>
              <a:rPr lang="en-US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  Relationships</a:t>
            </a:r>
            <a:endParaRPr lang="en-US" altLang="en-US" sz="20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058000" y="4035798"/>
            <a:ext cx="8145377" cy="863683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Dim_Products (1) → Fact_Orders (Many)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Dim_Category (1) → Fact_Orders (Many)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Dim_Date (1) → Fact_Orders (Many)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4" name="圆角矩形 9"/>
          <p:cNvSpPr/>
          <p:nvPr>
            <p:custDataLst>
              <p:tags r:id="rId10"/>
            </p:custDataLst>
          </p:nvPr>
        </p:nvSpPr>
        <p:spPr>
          <a:xfrm>
            <a:off x="641145" y="2517540"/>
            <a:ext cx="7076626" cy="12792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45" name="圆角矩形 11"/>
          <p:cNvSpPr/>
          <p:nvPr>
            <p:custDataLst>
              <p:tags r:id="rId11"/>
            </p:custDataLst>
          </p:nvPr>
        </p:nvSpPr>
        <p:spPr>
          <a:xfrm>
            <a:off x="496730" y="2701721"/>
            <a:ext cx="2387597" cy="5632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🗂</a:t>
            </a:r>
            <a:r>
              <a:rPr lang="en-US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️</a:t>
            </a:r>
            <a:r>
              <a:rPr lang="en-US" altLang="en-US" sz="20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Tables Used</a:t>
            </a:r>
            <a:endParaRPr lang="en-US" altLang="en-US" sz="20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5" name="矩形 13"/>
          <p:cNvSpPr/>
          <p:nvPr>
            <p:custDataLst>
              <p:tags r:id="rId12"/>
            </p:custDataLst>
          </p:nvPr>
        </p:nvSpPr>
        <p:spPr>
          <a:xfrm>
            <a:off x="3151033" y="2578551"/>
            <a:ext cx="8145617" cy="1076779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Fact_Orders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Dim_Products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Dim_Category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Dim_Date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pic>
        <p:nvPicPr>
          <p:cNvPr id="21" name="Picture 20" descr="Cap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2100" y="1393825"/>
            <a:ext cx="3863340" cy="2531745"/>
          </a:xfrm>
          <a:prstGeom prst="rect">
            <a:avLst/>
          </a:prstGeom>
        </p:spPr>
      </p:pic>
      <p:pic>
        <p:nvPicPr>
          <p:cNvPr id="23" name="Picture 22" descr="Cap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2100" y="4230370"/>
            <a:ext cx="3928745" cy="2117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322580"/>
            <a:ext cx="11362690" cy="628650"/>
          </a:xfrm>
          <a:solidFill>
            <a:schemeClr val="bg1"/>
          </a:solidFill>
        </p:spPr>
        <p:txBody>
          <a:bodyPr>
            <a:normAutofit fontScale="90000"/>
          </a:bodyPr>
          <a:p>
            <a:r>
              <a:rPr lang="en-US" altLang="en-US"/>
              <a:t>️</a:t>
            </a:r>
            <a:r>
              <a:rPr lang="en-US" altLang="en-US"/>
              <a:t> </a:t>
            </a:r>
            <a:r>
              <a:rPr lang="en-US" altLang="en-US" sz="4900"/>
              <a:t>Power Query Editor – Data Preparation</a:t>
            </a:r>
            <a:endParaRPr lang="en-US" altLang="en-US" sz="4900"/>
          </a:p>
        </p:txBody>
      </p:sp>
      <p:sp>
        <p:nvSpPr>
          <p:cNvPr id="35" name="任意多边形: 形状 34"/>
          <p:cNvSpPr/>
          <p:nvPr>
            <p:custDataLst>
              <p:tags r:id="rId1"/>
            </p:custDataLst>
          </p:nvPr>
        </p:nvSpPr>
        <p:spPr>
          <a:xfrm>
            <a:off x="3924935" y="1974850"/>
            <a:ext cx="1529715" cy="4894580"/>
          </a:xfrm>
          <a:custGeom>
            <a:avLst/>
            <a:gdLst>
              <a:gd name="connsiteX0" fmla="*/ 1115572 w 1430454"/>
              <a:gd name="connsiteY0" fmla="*/ 0 h 4439702"/>
              <a:gd name="connsiteX1" fmla="*/ 1149591 w 1430454"/>
              <a:gd name="connsiteY1" fmla="*/ 15551 h 4439702"/>
              <a:gd name="connsiteX2" fmla="*/ 1417390 w 1430454"/>
              <a:gd name="connsiteY2" fmla="*/ 329088 h 4439702"/>
              <a:gd name="connsiteX3" fmla="*/ 1426881 w 1430454"/>
              <a:gd name="connsiteY3" fmla="*/ 351315 h 4439702"/>
              <a:gd name="connsiteX4" fmla="*/ 1424385 w 1430454"/>
              <a:gd name="connsiteY4" fmla="*/ 368984 h 4439702"/>
              <a:gd name="connsiteX5" fmla="*/ 1427297 w 1430454"/>
              <a:gd name="connsiteY5" fmla="*/ 368984 h 4439702"/>
              <a:gd name="connsiteX6" fmla="*/ 1427297 w 1430454"/>
              <a:gd name="connsiteY6" fmla="*/ 3573360 h 4439702"/>
              <a:gd name="connsiteX7" fmla="*/ 1430454 w 1430454"/>
              <a:gd name="connsiteY7" fmla="*/ 3573360 h 4439702"/>
              <a:gd name="connsiteX8" fmla="*/ 1220567 w 1430454"/>
              <a:gd name="connsiteY8" fmla="*/ 4439702 h 4439702"/>
              <a:gd name="connsiteX9" fmla="*/ 0 w 1430454"/>
              <a:gd name="connsiteY9" fmla="*/ 4439679 h 4439702"/>
              <a:gd name="connsiteX10" fmla="*/ 804978 w 1430454"/>
              <a:gd name="connsiteY10" fmla="*/ 3574767 h 4439702"/>
              <a:gd name="connsiteX11" fmla="*/ 803843 w 1430454"/>
              <a:gd name="connsiteY11" fmla="*/ 3574767 h 4439702"/>
              <a:gd name="connsiteX12" fmla="*/ 803843 w 1430454"/>
              <a:gd name="connsiteY12" fmla="*/ 368984 h 4439702"/>
              <a:gd name="connsiteX13" fmla="*/ 806758 w 1430454"/>
              <a:gd name="connsiteY13" fmla="*/ 368984 h 4439702"/>
              <a:gd name="connsiteX14" fmla="*/ 804255 w 1430454"/>
              <a:gd name="connsiteY14" fmla="*/ 351326 h 4439702"/>
              <a:gd name="connsiteX15" fmla="*/ 813735 w 1430454"/>
              <a:gd name="connsiteY15" fmla="*/ 329114 h 4439702"/>
              <a:gd name="connsiteX16" fmla="*/ 1081533 w 1430454"/>
              <a:gd name="connsiteY16" fmla="*/ 15577 h 4439702"/>
              <a:gd name="connsiteX17" fmla="*/ 1115572 w 1430454"/>
              <a:gd name="connsiteY17" fmla="*/ 0 h 443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30454" h="4439702">
                <a:moveTo>
                  <a:pt x="1115572" y="0"/>
                </a:moveTo>
                <a:cubicBezTo>
                  <a:pt x="1128614" y="2"/>
                  <a:pt x="1141239" y="5773"/>
                  <a:pt x="1149591" y="15551"/>
                </a:cubicBezTo>
                <a:cubicBezTo>
                  <a:pt x="1149592" y="15552"/>
                  <a:pt x="1417391" y="329089"/>
                  <a:pt x="1417390" y="329088"/>
                </a:cubicBezTo>
                <a:cubicBezTo>
                  <a:pt x="1422548" y="335128"/>
                  <a:pt x="1425786" y="343086"/>
                  <a:pt x="1426881" y="351315"/>
                </a:cubicBezTo>
                <a:lnTo>
                  <a:pt x="1424385" y="368984"/>
                </a:lnTo>
                <a:lnTo>
                  <a:pt x="1427297" y="368984"/>
                </a:lnTo>
                <a:lnTo>
                  <a:pt x="1427297" y="3573360"/>
                </a:lnTo>
                <a:lnTo>
                  <a:pt x="1430454" y="3573360"/>
                </a:lnTo>
                <a:lnTo>
                  <a:pt x="1220567" y="4439702"/>
                </a:lnTo>
                <a:lnTo>
                  <a:pt x="0" y="4439679"/>
                </a:lnTo>
                <a:lnTo>
                  <a:pt x="804978" y="3574767"/>
                </a:lnTo>
                <a:lnTo>
                  <a:pt x="803843" y="3574767"/>
                </a:lnTo>
                <a:lnTo>
                  <a:pt x="803843" y="368984"/>
                </a:lnTo>
                <a:lnTo>
                  <a:pt x="806758" y="368984"/>
                </a:lnTo>
                <a:lnTo>
                  <a:pt x="804255" y="351326"/>
                </a:lnTo>
                <a:cubicBezTo>
                  <a:pt x="805344" y="343105"/>
                  <a:pt x="808577" y="335154"/>
                  <a:pt x="813735" y="329114"/>
                </a:cubicBezTo>
                <a:cubicBezTo>
                  <a:pt x="813736" y="329115"/>
                  <a:pt x="1081534" y="15578"/>
                  <a:pt x="1081533" y="15577"/>
                </a:cubicBezTo>
                <a:cubicBezTo>
                  <a:pt x="1089886" y="5799"/>
                  <a:pt x="1102532" y="1"/>
                  <a:pt x="11155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1">
                  <a:lumMod val="80000"/>
                  <a:lumOff val="2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2"/>
            </p:custDataLst>
          </p:nvPr>
        </p:nvSpPr>
        <p:spPr>
          <a:xfrm>
            <a:off x="6173470" y="2553970"/>
            <a:ext cx="1370330" cy="4315460"/>
          </a:xfrm>
          <a:custGeom>
            <a:avLst/>
            <a:gdLst>
              <a:gd name="connsiteX0" fmla="*/ 314394 w 1430454"/>
              <a:gd name="connsiteY0" fmla="*/ 0 h 3914347"/>
              <a:gd name="connsiteX1" fmla="*/ 348413 w 1430454"/>
              <a:gd name="connsiteY1" fmla="*/ 15551 h 3914347"/>
              <a:gd name="connsiteX2" fmla="*/ 616212 w 1430454"/>
              <a:gd name="connsiteY2" fmla="*/ 329088 h 3914347"/>
              <a:gd name="connsiteX3" fmla="*/ 625703 w 1430454"/>
              <a:gd name="connsiteY3" fmla="*/ 351315 h 3914347"/>
              <a:gd name="connsiteX4" fmla="*/ 624552 w 1430454"/>
              <a:gd name="connsiteY4" fmla="*/ 359464 h 3914347"/>
              <a:gd name="connsiteX5" fmla="*/ 626121 w 1430454"/>
              <a:gd name="connsiteY5" fmla="*/ 359464 h 3914347"/>
              <a:gd name="connsiteX6" fmla="*/ 626121 w 1430454"/>
              <a:gd name="connsiteY6" fmla="*/ 3049412 h 3914347"/>
              <a:gd name="connsiteX7" fmla="*/ 625476 w 1430454"/>
              <a:gd name="connsiteY7" fmla="*/ 3049412 h 3914347"/>
              <a:gd name="connsiteX8" fmla="*/ 1430454 w 1430454"/>
              <a:gd name="connsiteY8" fmla="*/ 3914324 h 3914347"/>
              <a:gd name="connsiteX9" fmla="*/ 209888 w 1430454"/>
              <a:gd name="connsiteY9" fmla="*/ 3914347 h 3914347"/>
              <a:gd name="connsiteX10" fmla="*/ 0 w 1430454"/>
              <a:gd name="connsiteY10" fmla="*/ 3048005 h 3914347"/>
              <a:gd name="connsiteX11" fmla="*/ 2667 w 1430454"/>
              <a:gd name="connsiteY11" fmla="*/ 3048005 h 3914347"/>
              <a:gd name="connsiteX12" fmla="*/ 2667 w 1430454"/>
              <a:gd name="connsiteY12" fmla="*/ 359464 h 3914347"/>
              <a:gd name="connsiteX13" fmla="*/ 4231 w 1430454"/>
              <a:gd name="connsiteY13" fmla="*/ 359464 h 3914347"/>
              <a:gd name="connsiteX14" fmla="*/ 3077 w 1430454"/>
              <a:gd name="connsiteY14" fmla="*/ 351326 h 3914347"/>
              <a:gd name="connsiteX15" fmla="*/ 12557 w 1430454"/>
              <a:gd name="connsiteY15" fmla="*/ 329114 h 3914347"/>
              <a:gd name="connsiteX16" fmla="*/ 280355 w 1430454"/>
              <a:gd name="connsiteY16" fmla="*/ 15577 h 3914347"/>
              <a:gd name="connsiteX17" fmla="*/ 314394 w 1430454"/>
              <a:gd name="connsiteY17" fmla="*/ 0 h 3914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30454" h="3914347">
                <a:moveTo>
                  <a:pt x="314394" y="0"/>
                </a:moveTo>
                <a:cubicBezTo>
                  <a:pt x="327436" y="2"/>
                  <a:pt x="340061" y="5773"/>
                  <a:pt x="348413" y="15551"/>
                </a:cubicBezTo>
                <a:cubicBezTo>
                  <a:pt x="348414" y="15552"/>
                  <a:pt x="616213" y="329089"/>
                  <a:pt x="616212" y="329088"/>
                </a:cubicBezTo>
                <a:cubicBezTo>
                  <a:pt x="621370" y="335128"/>
                  <a:pt x="624608" y="343086"/>
                  <a:pt x="625703" y="351315"/>
                </a:cubicBezTo>
                <a:lnTo>
                  <a:pt x="624552" y="359464"/>
                </a:lnTo>
                <a:lnTo>
                  <a:pt x="626121" y="359464"/>
                </a:lnTo>
                <a:lnTo>
                  <a:pt x="626121" y="3049412"/>
                </a:lnTo>
                <a:lnTo>
                  <a:pt x="625476" y="3049412"/>
                </a:lnTo>
                <a:lnTo>
                  <a:pt x="1430454" y="3914324"/>
                </a:lnTo>
                <a:lnTo>
                  <a:pt x="209888" y="3914347"/>
                </a:lnTo>
                <a:lnTo>
                  <a:pt x="0" y="3048005"/>
                </a:lnTo>
                <a:lnTo>
                  <a:pt x="2667" y="3048005"/>
                </a:lnTo>
                <a:lnTo>
                  <a:pt x="2667" y="359464"/>
                </a:lnTo>
                <a:lnTo>
                  <a:pt x="4231" y="359464"/>
                </a:lnTo>
                <a:lnTo>
                  <a:pt x="3077" y="351326"/>
                </a:lnTo>
                <a:cubicBezTo>
                  <a:pt x="4166" y="343105"/>
                  <a:pt x="7399" y="335154"/>
                  <a:pt x="12557" y="329114"/>
                </a:cubicBezTo>
                <a:cubicBezTo>
                  <a:pt x="12558" y="329115"/>
                  <a:pt x="280356" y="15578"/>
                  <a:pt x="280355" y="15577"/>
                </a:cubicBezTo>
                <a:cubicBezTo>
                  <a:pt x="288708" y="5799"/>
                  <a:pt x="301354" y="1"/>
                  <a:pt x="3143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3"/>
            </p:custDataLst>
          </p:nvPr>
        </p:nvSpPr>
        <p:spPr>
          <a:xfrm>
            <a:off x="6857620" y="3199052"/>
            <a:ext cx="1996515" cy="3670565"/>
          </a:xfrm>
          <a:custGeom>
            <a:avLst/>
            <a:gdLst>
              <a:gd name="connsiteX0" fmla="*/ 314642 w 1810870"/>
              <a:gd name="connsiteY0" fmla="*/ 0 h 3329259"/>
              <a:gd name="connsiteX1" fmla="*/ 348661 w 1810870"/>
              <a:gd name="connsiteY1" fmla="*/ 15551 h 3329259"/>
              <a:gd name="connsiteX2" fmla="*/ 616460 w 1810870"/>
              <a:gd name="connsiteY2" fmla="*/ 329088 h 3329259"/>
              <a:gd name="connsiteX3" fmla="*/ 625951 w 1810870"/>
              <a:gd name="connsiteY3" fmla="*/ 351315 h 3329259"/>
              <a:gd name="connsiteX4" fmla="*/ 624800 w 1810870"/>
              <a:gd name="connsiteY4" fmla="*/ 359464 h 3329259"/>
              <a:gd name="connsiteX5" fmla="*/ 626370 w 1810870"/>
              <a:gd name="connsiteY5" fmla="*/ 359464 h 3329259"/>
              <a:gd name="connsiteX6" fmla="*/ 626370 w 1810870"/>
              <a:gd name="connsiteY6" fmla="*/ 2464504 h 3329259"/>
              <a:gd name="connsiteX7" fmla="*/ 628442 w 1810870"/>
              <a:gd name="connsiteY7" fmla="*/ 2464504 h 3329259"/>
              <a:gd name="connsiteX8" fmla="*/ 1810870 w 1810870"/>
              <a:gd name="connsiteY8" fmla="*/ 3329259 h 3329259"/>
              <a:gd name="connsiteX9" fmla="*/ 804051 w 1810870"/>
              <a:gd name="connsiteY9" fmla="*/ 3328603 h 3329259"/>
              <a:gd name="connsiteX10" fmla="*/ 3144 w 1810870"/>
              <a:gd name="connsiteY10" fmla="*/ 2467882 h 3329259"/>
              <a:gd name="connsiteX11" fmla="*/ 2916 w 1810870"/>
              <a:gd name="connsiteY11" fmla="*/ 2467882 h 3329259"/>
              <a:gd name="connsiteX12" fmla="*/ 2916 w 1810870"/>
              <a:gd name="connsiteY12" fmla="*/ 2467638 h 3329259"/>
              <a:gd name="connsiteX13" fmla="*/ 0 w 1810870"/>
              <a:gd name="connsiteY13" fmla="*/ 2464504 h 3329259"/>
              <a:gd name="connsiteX14" fmla="*/ 2916 w 1810870"/>
              <a:gd name="connsiteY14" fmla="*/ 2464504 h 3329259"/>
              <a:gd name="connsiteX15" fmla="*/ 2916 w 1810870"/>
              <a:gd name="connsiteY15" fmla="*/ 359464 h 3329259"/>
              <a:gd name="connsiteX16" fmla="*/ 4479 w 1810870"/>
              <a:gd name="connsiteY16" fmla="*/ 359464 h 3329259"/>
              <a:gd name="connsiteX17" fmla="*/ 3325 w 1810870"/>
              <a:gd name="connsiteY17" fmla="*/ 351326 h 3329259"/>
              <a:gd name="connsiteX18" fmla="*/ 12805 w 1810870"/>
              <a:gd name="connsiteY18" fmla="*/ 329114 h 3329259"/>
              <a:gd name="connsiteX19" fmla="*/ 280603 w 1810870"/>
              <a:gd name="connsiteY19" fmla="*/ 15577 h 3329259"/>
              <a:gd name="connsiteX20" fmla="*/ 314642 w 1810870"/>
              <a:gd name="connsiteY20" fmla="*/ 0 h 332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810870" h="3329259">
                <a:moveTo>
                  <a:pt x="314642" y="0"/>
                </a:moveTo>
                <a:cubicBezTo>
                  <a:pt x="327684" y="2"/>
                  <a:pt x="340309" y="5773"/>
                  <a:pt x="348661" y="15551"/>
                </a:cubicBezTo>
                <a:cubicBezTo>
                  <a:pt x="348662" y="15552"/>
                  <a:pt x="616461" y="329089"/>
                  <a:pt x="616460" y="329088"/>
                </a:cubicBezTo>
                <a:cubicBezTo>
                  <a:pt x="621618" y="335128"/>
                  <a:pt x="624856" y="343086"/>
                  <a:pt x="625951" y="351315"/>
                </a:cubicBezTo>
                <a:lnTo>
                  <a:pt x="624800" y="359464"/>
                </a:lnTo>
                <a:lnTo>
                  <a:pt x="626370" y="359464"/>
                </a:lnTo>
                <a:lnTo>
                  <a:pt x="626370" y="2464504"/>
                </a:lnTo>
                <a:lnTo>
                  <a:pt x="628442" y="2464504"/>
                </a:lnTo>
                <a:lnTo>
                  <a:pt x="1810870" y="3329259"/>
                </a:lnTo>
                <a:lnTo>
                  <a:pt x="804051" y="3328603"/>
                </a:lnTo>
                <a:lnTo>
                  <a:pt x="3144" y="2467882"/>
                </a:lnTo>
                <a:lnTo>
                  <a:pt x="2916" y="2467882"/>
                </a:lnTo>
                <a:lnTo>
                  <a:pt x="2916" y="2467638"/>
                </a:lnTo>
                <a:lnTo>
                  <a:pt x="0" y="2464504"/>
                </a:lnTo>
                <a:lnTo>
                  <a:pt x="2916" y="2464504"/>
                </a:lnTo>
                <a:lnTo>
                  <a:pt x="2916" y="359464"/>
                </a:lnTo>
                <a:lnTo>
                  <a:pt x="4479" y="359464"/>
                </a:lnTo>
                <a:lnTo>
                  <a:pt x="3325" y="351326"/>
                </a:lnTo>
                <a:cubicBezTo>
                  <a:pt x="4414" y="343105"/>
                  <a:pt x="7647" y="335154"/>
                  <a:pt x="12805" y="329114"/>
                </a:cubicBezTo>
                <a:cubicBezTo>
                  <a:pt x="12806" y="329115"/>
                  <a:pt x="280604" y="15578"/>
                  <a:pt x="280603" y="15577"/>
                </a:cubicBezTo>
                <a:cubicBezTo>
                  <a:pt x="288956" y="5799"/>
                  <a:pt x="301602" y="1"/>
                  <a:pt x="3146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4"/>
            </p:custDataLst>
          </p:nvPr>
        </p:nvSpPr>
        <p:spPr>
          <a:xfrm>
            <a:off x="5175885" y="1195070"/>
            <a:ext cx="1283970" cy="5662930"/>
          </a:xfrm>
          <a:custGeom>
            <a:avLst/>
            <a:gdLst>
              <a:gd name="connsiteX0" fmla="*/ 523426 w 1044000"/>
              <a:gd name="connsiteY0" fmla="*/ 0 h 5136594"/>
              <a:gd name="connsiteX1" fmla="*/ 557445 w 1044000"/>
              <a:gd name="connsiteY1" fmla="*/ 15552 h 5136594"/>
              <a:gd name="connsiteX2" fmla="*/ 825244 w 1044000"/>
              <a:gd name="connsiteY2" fmla="*/ 329089 h 5136594"/>
              <a:gd name="connsiteX3" fmla="*/ 834735 w 1044000"/>
              <a:gd name="connsiteY3" fmla="*/ 351315 h 5136594"/>
              <a:gd name="connsiteX4" fmla="*/ 832839 w 1044000"/>
              <a:gd name="connsiteY4" fmla="*/ 364736 h 5136594"/>
              <a:gd name="connsiteX5" fmla="*/ 835152 w 1044000"/>
              <a:gd name="connsiteY5" fmla="*/ 364736 h 5136594"/>
              <a:gd name="connsiteX6" fmla="*/ 835152 w 1044000"/>
              <a:gd name="connsiteY6" fmla="*/ 4270853 h 5136594"/>
              <a:gd name="connsiteX7" fmla="*/ 835200 w 1044000"/>
              <a:gd name="connsiteY7" fmla="*/ 4270853 h 5136594"/>
              <a:gd name="connsiteX8" fmla="*/ 1044000 w 1044000"/>
              <a:gd name="connsiteY8" fmla="*/ 5136594 h 5136594"/>
              <a:gd name="connsiteX9" fmla="*/ 0 w 1044000"/>
              <a:gd name="connsiteY9" fmla="*/ 5136594 h 5136594"/>
              <a:gd name="connsiteX10" fmla="*/ 208800 w 1044000"/>
              <a:gd name="connsiteY10" fmla="*/ 4270853 h 5136594"/>
              <a:gd name="connsiteX11" fmla="*/ 211698 w 1044000"/>
              <a:gd name="connsiteY11" fmla="*/ 4270853 h 5136594"/>
              <a:gd name="connsiteX12" fmla="*/ 211698 w 1044000"/>
              <a:gd name="connsiteY12" fmla="*/ 364736 h 5136594"/>
              <a:gd name="connsiteX13" fmla="*/ 214010 w 1044000"/>
              <a:gd name="connsiteY13" fmla="*/ 364736 h 5136594"/>
              <a:gd name="connsiteX14" fmla="*/ 212109 w 1044000"/>
              <a:gd name="connsiteY14" fmla="*/ 351327 h 5136594"/>
              <a:gd name="connsiteX15" fmla="*/ 221589 w 1044000"/>
              <a:gd name="connsiteY15" fmla="*/ 329114 h 5136594"/>
              <a:gd name="connsiteX16" fmla="*/ 489387 w 1044000"/>
              <a:gd name="connsiteY16" fmla="*/ 15577 h 5136594"/>
              <a:gd name="connsiteX17" fmla="*/ 523426 w 1044000"/>
              <a:gd name="connsiteY17" fmla="*/ 0 h 5136594"/>
              <a:gd name="connsiteX0-1" fmla="*/ 629202 w 1149776"/>
              <a:gd name="connsiteY0-2" fmla="*/ 0 h 5136594"/>
              <a:gd name="connsiteX1-3" fmla="*/ 663221 w 1149776"/>
              <a:gd name="connsiteY1-4" fmla="*/ 15552 h 5136594"/>
              <a:gd name="connsiteX2-5" fmla="*/ 931020 w 1149776"/>
              <a:gd name="connsiteY2-6" fmla="*/ 329089 h 5136594"/>
              <a:gd name="connsiteX3-7" fmla="*/ 940511 w 1149776"/>
              <a:gd name="connsiteY3-8" fmla="*/ 351315 h 5136594"/>
              <a:gd name="connsiteX4-9" fmla="*/ 938615 w 1149776"/>
              <a:gd name="connsiteY4-10" fmla="*/ 364736 h 5136594"/>
              <a:gd name="connsiteX5-11" fmla="*/ 940928 w 1149776"/>
              <a:gd name="connsiteY5-12" fmla="*/ 364736 h 5136594"/>
              <a:gd name="connsiteX6-13" fmla="*/ 940928 w 1149776"/>
              <a:gd name="connsiteY6-14" fmla="*/ 4270853 h 5136594"/>
              <a:gd name="connsiteX7-15" fmla="*/ 940976 w 1149776"/>
              <a:gd name="connsiteY7-16" fmla="*/ 4270853 h 5136594"/>
              <a:gd name="connsiteX8-17" fmla="*/ 1149776 w 1149776"/>
              <a:gd name="connsiteY8-18" fmla="*/ 5136594 h 5136594"/>
              <a:gd name="connsiteX9-19" fmla="*/ 0 w 1149776"/>
              <a:gd name="connsiteY9-20" fmla="*/ 5136594 h 5136594"/>
              <a:gd name="connsiteX10-21" fmla="*/ 314576 w 1149776"/>
              <a:gd name="connsiteY10-22" fmla="*/ 4270853 h 5136594"/>
              <a:gd name="connsiteX11-23" fmla="*/ 317474 w 1149776"/>
              <a:gd name="connsiteY11-24" fmla="*/ 4270853 h 5136594"/>
              <a:gd name="connsiteX12-25" fmla="*/ 317474 w 1149776"/>
              <a:gd name="connsiteY12-26" fmla="*/ 364736 h 5136594"/>
              <a:gd name="connsiteX13-27" fmla="*/ 319786 w 1149776"/>
              <a:gd name="connsiteY13-28" fmla="*/ 364736 h 5136594"/>
              <a:gd name="connsiteX14-29" fmla="*/ 317885 w 1149776"/>
              <a:gd name="connsiteY14-30" fmla="*/ 351327 h 5136594"/>
              <a:gd name="connsiteX15-31" fmla="*/ 327365 w 1149776"/>
              <a:gd name="connsiteY15-32" fmla="*/ 329114 h 5136594"/>
              <a:gd name="connsiteX16-33" fmla="*/ 595163 w 1149776"/>
              <a:gd name="connsiteY16-34" fmla="*/ 15577 h 5136594"/>
              <a:gd name="connsiteX17-35" fmla="*/ 629202 w 1149776"/>
              <a:gd name="connsiteY17-36" fmla="*/ 0 h 5136594"/>
              <a:gd name="connsiteX0-37" fmla="*/ 629202 w 1270141"/>
              <a:gd name="connsiteY0-38" fmla="*/ 0 h 5136594"/>
              <a:gd name="connsiteX1-39" fmla="*/ 663221 w 1270141"/>
              <a:gd name="connsiteY1-40" fmla="*/ 15552 h 5136594"/>
              <a:gd name="connsiteX2-41" fmla="*/ 931020 w 1270141"/>
              <a:gd name="connsiteY2-42" fmla="*/ 329089 h 5136594"/>
              <a:gd name="connsiteX3-43" fmla="*/ 940511 w 1270141"/>
              <a:gd name="connsiteY3-44" fmla="*/ 351315 h 5136594"/>
              <a:gd name="connsiteX4-45" fmla="*/ 938615 w 1270141"/>
              <a:gd name="connsiteY4-46" fmla="*/ 364736 h 5136594"/>
              <a:gd name="connsiteX5-47" fmla="*/ 940928 w 1270141"/>
              <a:gd name="connsiteY5-48" fmla="*/ 364736 h 5136594"/>
              <a:gd name="connsiteX6-49" fmla="*/ 940928 w 1270141"/>
              <a:gd name="connsiteY6-50" fmla="*/ 4270853 h 5136594"/>
              <a:gd name="connsiteX7-51" fmla="*/ 940976 w 1270141"/>
              <a:gd name="connsiteY7-52" fmla="*/ 4270853 h 5136594"/>
              <a:gd name="connsiteX8-53" fmla="*/ 1270141 w 1270141"/>
              <a:gd name="connsiteY8-54" fmla="*/ 5136594 h 5136594"/>
              <a:gd name="connsiteX9-55" fmla="*/ 0 w 1270141"/>
              <a:gd name="connsiteY9-56" fmla="*/ 5136594 h 5136594"/>
              <a:gd name="connsiteX10-57" fmla="*/ 314576 w 1270141"/>
              <a:gd name="connsiteY10-58" fmla="*/ 4270853 h 5136594"/>
              <a:gd name="connsiteX11-59" fmla="*/ 317474 w 1270141"/>
              <a:gd name="connsiteY11-60" fmla="*/ 4270853 h 5136594"/>
              <a:gd name="connsiteX12-61" fmla="*/ 317474 w 1270141"/>
              <a:gd name="connsiteY12-62" fmla="*/ 364736 h 5136594"/>
              <a:gd name="connsiteX13-63" fmla="*/ 319786 w 1270141"/>
              <a:gd name="connsiteY13-64" fmla="*/ 364736 h 5136594"/>
              <a:gd name="connsiteX14-65" fmla="*/ 317885 w 1270141"/>
              <a:gd name="connsiteY14-66" fmla="*/ 351327 h 5136594"/>
              <a:gd name="connsiteX15-67" fmla="*/ 327365 w 1270141"/>
              <a:gd name="connsiteY15-68" fmla="*/ 329114 h 5136594"/>
              <a:gd name="connsiteX16-69" fmla="*/ 595163 w 1270141"/>
              <a:gd name="connsiteY16-70" fmla="*/ 15577 h 5136594"/>
              <a:gd name="connsiteX17-71" fmla="*/ 629202 w 1270141"/>
              <a:gd name="connsiteY17-72" fmla="*/ 0 h 51365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1270141" h="5136594">
                <a:moveTo>
                  <a:pt x="629202" y="0"/>
                </a:moveTo>
                <a:cubicBezTo>
                  <a:pt x="642244" y="3"/>
                  <a:pt x="654869" y="5774"/>
                  <a:pt x="663221" y="15552"/>
                </a:cubicBezTo>
                <a:cubicBezTo>
                  <a:pt x="663222" y="15553"/>
                  <a:pt x="931021" y="329089"/>
                  <a:pt x="931020" y="329089"/>
                </a:cubicBezTo>
                <a:cubicBezTo>
                  <a:pt x="936178" y="335128"/>
                  <a:pt x="939416" y="343086"/>
                  <a:pt x="940511" y="351315"/>
                </a:cubicBezTo>
                <a:lnTo>
                  <a:pt x="938615" y="364736"/>
                </a:lnTo>
                <a:lnTo>
                  <a:pt x="940928" y="364736"/>
                </a:lnTo>
                <a:lnTo>
                  <a:pt x="940928" y="4270853"/>
                </a:lnTo>
                <a:lnTo>
                  <a:pt x="940976" y="4270853"/>
                </a:lnTo>
                <a:lnTo>
                  <a:pt x="1270141" y="5136594"/>
                </a:lnTo>
                <a:lnTo>
                  <a:pt x="0" y="5136594"/>
                </a:lnTo>
                <a:lnTo>
                  <a:pt x="314576" y="4270853"/>
                </a:lnTo>
                <a:lnTo>
                  <a:pt x="317474" y="4270853"/>
                </a:lnTo>
                <a:lnTo>
                  <a:pt x="317474" y="364736"/>
                </a:lnTo>
                <a:lnTo>
                  <a:pt x="319786" y="364736"/>
                </a:lnTo>
                <a:lnTo>
                  <a:pt x="317885" y="351327"/>
                </a:lnTo>
                <a:cubicBezTo>
                  <a:pt x="318974" y="343105"/>
                  <a:pt x="322207" y="335154"/>
                  <a:pt x="327365" y="329114"/>
                </a:cubicBezTo>
                <a:cubicBezTo>
                  <a:pt x="327366" y="329116"/>
                  <a:pt x="595164" y="15579"/>
                  <a:pt x="595163" y="15577"/>
                </a:cubicBezTo>
                <a:cubicBezTo>
                  <a:pt x="603516" y="5800"/>
                  <a:pt x="616162" y="1"/>
                  <a:pt x="6292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>
            <p:custDataLst>
              <p:tags r:id="rId5"/>
            </p:custDataLst>
          </p:nvPr>
        </p:nvSpPr>
        <p:spPr>
          <a:xfrm>
            <a:off x="2822575" y="3735070"/>
            <a:ext cx="1915160" cy="3134995"/>
          </a:xfrm>
          <a:custGeom>
            <a:avLst/>
            <a:gdLst>
              <a:gd name="connsiteX0" fmla="*/ 1494549 w 1810870"/>
              <a:gd name="connsiteY0" fmla="*/ 0 h 3088613"/>
              <a:gd name="connsiteX1" fmla="*/ 1528568 w 1810870"/>
              <a:gd name="connsiteY1" fmla="*/ 15551 h 3088613"/>
              <a:gd name="connsiteX2" fmla="*/ 1796367 w 1810870"/>
              <a:gd name="connsiteY2" fmla="*/ 329088 h 3088613"/>
              <a:gd name="connsiteX3" fmla="*/ 1805858 w 1810870"/>
              <a:gd name="connsiteY3" fmla="*/ 351315 h 3088613"/>
              <a:gd name="connsiteX4" fmla="*/ 1803912 w 1810870"/>
              <a:gd name="connsiteY4" fmla="*/ 365091 h 3088613"/>
              <a:gd name="connsiteX5" fmla="*/ 1806274 w 1810870"/>
              <a:gd name="connsiteY5" fmla="*/ 365091 h 3088613"/>
              <a:gd name="connsiteX6" fmla="*/ 1806274 w 1810870"/>
              <a:gd name="connsiteY6" fmla="*/ 2223858 h 3088613"/>
              <a:gd name="connsiteX7" fmla="*/ 1810870 w 1810870"/>
              <a:gd name="connsiteY7" fmla="*/ 2223858 h 3088613"/>
              <a:gd name="connsiteX8" fmla="*/ 1006819 w 1810870"/>
              <a:gd name="connsiteY8" fmla="*/ 3087957 h 3088613"/>
              <a:gd name="connsiteX9" fmla="*/ 0 w 1810870"/>
              <a:gd name="connsiteY9" fmla="*/ 3088613 h 3088613"/>
              <a:gd name="connsiteX10" fmla="*/ 1182428 w 1810870"/>
              <a:gd name="connsiteY10" fmla="*/ 2223858 h 3088613"/>
              <a:gd name="connsiteX11" fmla="*/ 1182820 w 1810870"/>
              <a:gd name="connsiteY11" fmla="*/ 2223858 h 3088613"/>
              <a:gd name="connsiteX12" fmla="*/ 1182820 w 1810870"/>
              <a:gd name="connsiteY12" fmla="*/ 365091 h 3088613"/>
              <a:gd name="connsiteX13" fmla="*/ 1185183 w 1810870"/>
              <a:gd name="connsiteY13" fmla="*/ 365091 h 3088613"/>
              <a:gd name="connsiteX14" fmla="*/ 1183232 w 1810870"/>
              <a:gd name="connsiteY14" fmla="*/ 351327 h 3088613"/>
              <a:gd name="connsiteX15" fmla="*/ 1192712 w 1810870"/>
              <a:gd name="connsiteY15" fmla="*/ 329114 h 3088613"/>
              <a:gd name="connsiteX16" fmla="*/ 1460510 w 1810870"/>
              <a:gd name="connsiteY16" fmla="*/ 15577 h 3088613"/>
              <a:gd name="connsiteX17" fmla="*/ 1494549 w 1810870"/>
              <a:gd name="connsiteY17" fmla="*/ 0 h 308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10870" h="3088613">
                <a:moveTo>
                  <a:pt x="1494549" y="0"/>
                </a:moveTo>
                <a:cubicBezTo>
                  <a:pt x="1507591" y="2"/>
                  <a:pt x="1520216" y="5774"/>
                  <a:pt x="1528568" y="15551"/>
                </a:cubicBezTo>
                <a:cubicBezTo>
                  <a:pt x="1528569" y="15552"/>
                  <a:pt x="1796368" y="329089"/>
                  <a:pt x="1796367" y="329088"/>
                </a:cubicBezTo>
                <a:cubicBezTo>
                  <a:pt x="1801525" y="335128"/>
                  <a:pt x="1804763" y="343086"/>
                  <a:pt x="1805858" y="351315"/>
                </a:cubicBezTo>
                <a:lnTo>
                  <a:pt x="1803912" y="365091"/>
                </a:lnTo>
                <a:lnTo>
                  <a:pt x="1806274" y="365091"/>
                </a:lnTo>
                <a:lnTo>
                  <a:pt x="1806274" y="2223858"/>
                </a:lnTo>
                <a:lnTo>
                  <a:pt x="1810870" y="2223858"/>
                </a:lnTo>
                <a:lnTo>
                  <a:pt x="1006819" y="3087957"/>
                </a:lnTo>
                <a:lnTo>
                  <a:pt x="0" y="3088613"/>
                </a:lnTo>
                <a:lnTo>
                  <a:pt x="1182428" y="2223858"/>
                </a:lnTo>
                <a:lnTo>
                  <a:pt x="1182820" y="2223858"/>
                </a:lnTo>
                <a:lnTo>
                  <a:pt x="1182820" y="365091"/>
                </a:lnTo>
                <a:lnTo>
                  <a:pt x="1185183" y="365091"/>
                </a:lnTo>
                <a:lnTo>
                  <a:pt x="1183232" y="351327"/>
                </a:lnTo>
                <a:cubicBezTo>
                  <a:pt x="1184321" y="343105"/>
                  <a:pt x="1187554" y="335154"/>
                  <a:pt x="1192712" y="329114"/>
                </a:cubicBezTo>
                <a:cubicBezTo>
                  <a:pt x="1192713" y="329116"/>
                  <a:pt x="1460511" y="15579"/>
                  <a:pt x="1460510" y="15577"/>
                </a:cubicBezTo>
                <a:cubicBezTo>
                  <a:pt x="1468863" y="5800"/>
                  <a:pt x="1481509" y="1"/>
                  <a:pt x="14945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矩形 55"/>
          <p:cNvSpPr/>
          <p:nvPr>
            <p:custDataLst>
              <p:tags r:id="rId6"/>
            </p:custDataLst>
          </p:nvPr>
        </p:nvSpPr>
        <p:spPr>
          <a:xfrm>
            <a:off x="5536451" y="1379791"/>
            <a:ext cx="602331" cy="637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01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62" name="矩形 61"/>
          <p:cNvSpPr/>
          <p:nvPr>
            <p:custDataLst>
              <p:tags r:id="rId7"/>
            </p:custDataLst>
          </p:nvPr>
        </p:nvSpPr>
        <p:spPr>
          <a:xfrm>
            <a:off x="4852261" y="2161820"/>
            <a:ext cx="602331" cy="637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02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8"/>
            </p:custDataLst>
          </p:nvPr>
        </p:nvSpPr>
        <p:spPr>
          <a:xfrm>
            <a:off x="4173545" y="3901714"/>
            <a:ext cx="602331" cy="637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03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64" name="矩形 63"/>
          <p:cNvSpPr/>
          <p:nvPr>
            <p:custDataLst>
              <p:tags r:id="rId9"/>
            </p:custDataLst>
          </p:nvPr>
        </p:nvSpPr>
        <p:spPr>
          <a:xfrm>
            <a:off x="6222008" y="2736539"/>
            <a:ext cx="602331" cy="637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04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65" name="矩形 64"/>
          <p:cNvSpPr/>
          <p:nvPr>
            <p:custDataLst>
              <p:tags r:id="rId10"/>
            </p:custDataLst>
          </p:nvPr>
        </p:nvSpPr>
        <p:spPr>
          <a:xfrm>
            <a:off x="6897988" y="3380362"/>
            <a:ext cx="602331" cy="637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05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11"/>
            </p:custDataLst>
          </p:nvPr>
        </p:nvSpPr>
        <p:spPr>
          <a:xfrm>
            <a:off x="414655" y="2992120"/>
            <a:ext cx="2983865" cy="14776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📅</a:t>
            </a:r>
            <a:r>
              <a:rPr lang="en-US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Date Handling</a:t>
            </a:r>
            <a:endParaRPr lang="en-US" altLang="en-US" sz="1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Extracted Year, Month, Month-Year</a:t>
            </a:r>
            <a:endParaRPr lang="en-US" altLang="en-US" sz="14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Created proper Dim_Date table</a:t>
            </a:r>
            <a:endParaRPr lang="en-US" altLang="en-US" sz="14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Linked Order Date to Dim_Date</a:t>
            </a:r>
            <a:endParaRPr lang="en-US" altLang="en-US" sz="14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6" name="矩形 65"/>
          <p:cNvSpPr/>
          <p:nvPr>
            <p:custDataLst>
              <p:tags r:id="rId12"/>
            </p:custDataLst>
          </p:nvPr>
        </p:nvSpPr>
        <p:spPr>
          <a:xfrm>
            <a:off x="405130" y="4662170"/>
            <a:ext cx="2983865" cy="14839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📌</a:t>
            </a:r>
            <a:r>
              <a:rPr lang="en-US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Outcome</a:t>
            </a:r>
            <a:endParaRPr lang="en-US" altLang="en-US" sz="1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Error-free model</a:t>
            </a:r>
            <a:endParaRPr lang="en-US" altLang="en-US" sz="14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Correct One-to-Many relationships</a:t>
            </a:r>
            <a:endParaRPr lang="en-US" altLang="en-US" sz="14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Faster reports &amp; accurate visuals</a:t>
            </a:r>
            <a:endParaRPr lang="en-US" altLang="en-US" sz="14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矩形 69"/>
          <p:cNvSpPr/>
          <p:nvPr>
            <p:custDataLst>
              <p:tags r:id="rId13"/>
            </p:custDataLst>
          </p:nvPr>
        </p:nvSpPr>
        <p:spPr>
          <a:xfrm>
            <a:off x="414655" y="1206500"/>
            <a:ext cx="3110865" cy="15932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>
              <a:lnSpc>
                <a:spcPct val="150000"/>
              </a:lnSpc>
            </a:pP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🎯</a:t>
            </a:r>
            <a:r>
              <a:rPr lang="en-US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 Purpose</a:t>
            </a:r>
            <a:endParaRPr lang="en-US" alt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55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Clean &amp; prepare raw data before modeling</a:t>
            </a:r>
            <a:endParaRPr lang="en-US" altLang="en-US" sz="155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55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Fix data types to avoid DAX errors</a:t>
            </a:r>
            <a:endParaRPr lang="en-US" altLang="en-US" sz="155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55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Create usable columns for analysis</a:t>
            </a:r>
            <a:endParaRPr lang="en-US" altLang="en-US" sz="155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76" name="矩形 75"/>
          <p:cNvSpPr/>
          <p:nvPr>
            <p:custDataLst>
              <p:tags r:id="rId14"/>
            </p:custDataLst>
          </p:nvPr>
        </p:nvSpPr>
        <p:spPr>
          <a:xfrm>
            <a:off x="8314690" y="4539615"/>
            <a:ext cx="3623310" cy="14287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🧹</a:t>
            </a:r>
            <a:r>
              <a:rPr lang="en-US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 Data Cleaning</a:t>
            </a:r>
            <a:endParaRPr lang="en-US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Removed blanks &amp; null values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Fixed text → number conversion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Standardized Product &amp; Category names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77" name="矩形 76"/>
          <p:cNvSpPr/>
          <p:nvPr>
            <p:custDataLst>
              <p:tags r:id="rId15"/>
            </p:custDataLst>
          </p:nvPr>
        </p:nvSpPr>
        <p:spPr>
          <a:xfrm>
            <a:off x="8488680" y="1223645"/>
            <a:ext cx="3590925" cy="29495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25000"/>
          </a:bodyPr>
          <a:p>
            <a:pPr>
              <a:lnSpc>
                <a:spcPct val="150000"/>
              </a:lnSpc>
            </a:pPr>
            <a:r>
              <a:rPr lang="zh-CN" altLang="en-US" sz="6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🛠</a:t>
            </a:r>
            <a:r>
              <a:rPr lang="en-US" altLang="en-US" sz="6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️</a:t>
            </a:r>
            <a:r>
              <a:rPr lang="en-US" altLang="en-US" sz="64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Transformations Used</a:t>
            </a:r>
            <a:endParaRPr lang="en-US" altLang="en-US" sz="32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5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Removed Columns – dropped unwanted fields</a:t>
            </a:r>
            <a:endParaRPr lang="en-US" altLang="en-US" sz="5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5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Changed Data Types – Sales/Profit → Decimal, Dates → Date</a:t>
            </a:r>
            <a:endParaRPr lang="en-US" altLang="en-US" sz="5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5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Split Columns – Date → Year, Month</a:t>
            </a:r>
            <a:endParaRPr lang="en-US" altLang="en-US" sz="5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5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Merge Queries – Fact_Orders with Dim tables (Keys)</a:t>
            </a:r>
            <a:endParaRPr lang="en-US" altLang="en-US" sz="5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56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Append Queries – combine similar datasets (if needed)</a:t>
            </a:r>
            <a:endParaRPr lang="en-US" altLang="en-US" sz="56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9" name="直接连接符 78"/>
          <p:cNvCxnSpPr/>
          <p:nvPr>
            <p:custDataLst>
              <p:tags r:id="rId16"/>
            </p:custDataLst>
          </p:nvPr>
        </p:nvCxnSpPr>
        <p:spPr>
          <a:xfrm>
            <a:off x="3530407" y="1793041"/>
            <a:ext cx="1923947" cy="0"/>
          </a:xfrm>
          <a:prstGeom prst="line">
            <a:avLst/>
          </a:prstGeom>
          <a:ln>
            <a:gradFill>
              <a:gsLst>
                <a:gs pos="100000">
                  <a:schemeClr val="accent2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17"/>
            </p:custDataLst>
          </p:nvPr>
        </p:nvCxnSpPr>
        <p:spPr>
          <a:xfrm>
            <a:off x="3530407" y="3424834"/>
            <a:ext cx="1245382" cy="0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100000"/>
                  </a:schemeClr>
                </a:gs>
                <a:gs pos="0">
                  <a:schemeClr val="accent2"/>
                </a:gs>
              </a:gsLst>
              <a:lin ang="1068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18"/>
            </p:custDataLst>
          </p:nvPr>
        </p:nvCxnSpPr>
        <p:spPr>
          <a:xfrm>
            <a:off x="3543742" y="5254062"/>
            <a:ext cx="551900" cy="0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10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>
            <p:custDataLst>
              <p:tags r:id="rId19"/>
            </p:custDataLst>
          </p:nvPr>
        </p:nvCxnSpPr>
        <p:spPr>
          <a:xfrm flipH="1">
            <a:off x="6781313" y="2799731"/>
            <a:ext cx="1505027" cy="0"/>
          </a:xfrm>
          <a:prstGeom prst="line">
            <a:avLst/>
          </a:prstGeom>
          <a:ln cap="rnd" cmpd="sng">
            <a:gradFill>
              <a:gsLst>
                <a:gs pos="100000">
                  <a:schemeClr val="accent2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round/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20"/>
            </p:custDataLst>
          </p:nvPr>
        </p:nvCxnSpPr>
        <p:spPr>
          <a:xfrm flipH="1">
            <a:off x="7608360" y="5055728"/>
            <a:ext cx="564826" cy="0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10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5" name="Round Diagonal Corner Rectangle 54"/>
          <p:cNvSpPr/>
          <p:nvPr/>
        </p:nvSpPr>
        <p:spPr>
          <a:xfrm>
            <a:off x="8742045" y="1562735"/>
            <a:ext cx="3395345" cy="3714750"/>
          </a:xfrm>
          <a:prstGeom prst="round2DiagRect">
            <a:avLst/>
          </a:prstGeom>
          <a:solidFill>
            <a:schemeClr val="accent2">
              <a:lumMod val="75000"/>
              <a:alpha val="2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矩形 1"/>
          <p:cNvSpPr/>
          <p:nvPr>
            <p:custDataLst>
              <p:tags r:id="rId1"/>
            </p:custDataLst>
          </p:nvPr>
        </p:nvSpPr>
        <p:spPr>
          <a:xfrm>
            <a:off x="840105" y="1324610"/>
            <a:ext cx="7793990" cy="100203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Avg Delay Days = AVERAGEX(Fact_Orders,Fact_Orders[Days for shipping (real)] - Fact_Orders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[Days for shipment (scheduled)])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rgbClr val="0070C0"/>
                </a:solidFill>
                <a:latin typeface="+mn-lt"/>
              </a:rPr>
              <a:t>Purpose:Measures average shipping delay to monitor delivery performance and identify logistics inefficiencies.</a:t>
            </a:r>
            <a:endParaRPr lang="en-US" altLang="en-US" sz="1300" dirty="0">
              <a:solidFill>
                <a:srgbClr val="0070C0"/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3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9" name="矩形 2"/>
          <p:cNvSpPr/>
          <p:nvPr>
            <p:custDataLst>
              <p:tags r:id="rId2"/>
            </p:custDataLst>
          </p:nvPr>
        </p:nvSpPr>
        <p:spPr>
          <a:xfrm>
            <a:off x="862223" y="946468"/>
            <a:ext cx="4667348" cy="32597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Avg Delay Days</a:t>
            </a:r>
            <a:endParaRPr lang="en-US" altLang="en-US" b="1" dirty="0">
              <a:solidFill>
                <a:srgbClr val="FF0000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26" name="椭圆 4"/>
          <p:cNvSpPr/>
          <p:nvPr>
            <p:custDataLst>
              <p:tags r:id="rId3"/>
            </p:custDataLst>
          </p:nvPr>
        </p:nvSpPr>
        <p:spPr>
          <a:xfrm>
            <a:off x="134406" y="970503"/>
            <a:ext cx="544549" cy="544549"/>
          </a:xfrm>
          <a:prstGeom prst="ellipse">
            <a:avLst/>
          </a:prstGeom>
          <a:solidFill>
            <a:srgbClr val="FF0000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7" name="矩形 5"/>
          <p:cNvSpPr/>
          <p:nvPr>
            <p:custDataLst>
              <p:tags r:id="rId4"/>
            </p:custDataLst>
          </p:nvPr>
        </p:nvSpPr>
        <p:spPr>
          <a:xfrm>
            <a:off x="876300" y="2694940"/>
            <a:ext cx="7757795" cy="130429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Avg Shipping Delay (Days) = AVERAGEX(Fact_Orders,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  Fact_Orders[Days for shipping (real)] - Fact_Orders[Days for shipment (scheduled)])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rgbClr val="0070C0"/>
                </a:solidFill>
                <a:latin typeface="+mn-lt"/>
              </a:rPr>
              <a:t>Purpose: Measures the average shipping delay to monitor delivery efficiency and improve supply chain performance.</a:t>
            </a:r>
            <a:endParaRPr lang="en-US" altLang="en-US" sz="13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9" name="矩形 7"/>
          <p:cNvSpPr/>
          <p:nvPr>
            <p:custDataLst>
              <p:tags r:id="rId5"/>
            </p:custDataLst>
          </p:nvPr>
        </p:nvSpPr>
        <p:spPr>
          <a:xfrm>
            <a:off x="876062" y="2369362"/>
            <a:ext cx="4667348" cy="32597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Avg Shipping Delay (Days)</a:t>
            </a:r>
            <a:endParaRPr lang="en-US" altLang="en-US" b="1" dirty="0">
              <a:solidFill>
                <a:srgbClr val="FF0000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2" name="椭圆 9"/>
          <p:cNvSpPr/>
          <p:nvPr>
            <p:custDataLst>
              <p:tags r:id="rId6"/>
            </p:custDataLst>
          </p:nvPr>
        </p:nvSpPr>
        <p:spPr>
          <a:xfrm>
            <a:off x="148244" y="2393397"/>
            <a:ext cx="544549" cy="544549"/>
          </a:xfrm>
          <a:prstGeom prst="ellipse">
            <a:avLst/>
          </a:prstGeom>
          <a:solidFill>
            <a:srgbClr val="FF0000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33" name="矩形 10"/>
          <p:cNvSpPr/>
          <p:nvPr>
            <p:custDataLst>
              <p:tags r:id="rId7"/>
            </p:custDataLst>
          </p:nvPr>
        </p:nvSpPr>
        <p:spPr>
          <a:xfrm>
            <a:off x="835025" y="4210050"/>
            <a:ext cx="7785735" cy="90170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Late Delivery % = DIVIDE(CALCULATE(COUNTROWS(Fact_Orders), Fact_Orders[Late_delivery_risk] = 1),COUNTROWS(Fact_Orders)) </a:t>
            </a:r>
            <a:r>
              <a:rPr lang="en-US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00">
                <a:solidFill>
                  <a:srgbClr val="0070C0"/>
                </a:solidFill>
                <a:latin typeface="+mn-lt"/>
              </a:rPr>
              <a:t>Purpose: Measures the percentage of late deliveries to evaluate delivery performance and identify logistics issues.</a:t>
            </a:r>
            <a:endParaRPr lang="en-US" altLang="en-US" sz="1300">
              <a:solidFill>
                <a:srgbClr val="0070C0"/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5" name="矩形 11"/>
          <p:cNvSpPr/>
          <p:nvPr>
            <p:custDataLst>
              <p:tags r:id="rId8"/>
            </p:custDataLst>
          </p:nvPr>
        </p:nvSpPr>
        <p:spPr>
          <a:xfrm>
            <a:off x="844431" y="3933932"/>
            <a:ext cx="4667348" cy="32597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Late Delivery %</a:t>
            </a:r>
            <a:endParaRPr lang="en-US" altLang="en-US" b="1">
              <a:solidFill>
                <a:srgbClr val="FF0000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6" name="椭圆 12"/>
          <p:cNvSpPr/>
          <p:nvPr>
            <p:custDataLst>
              <p:tags r:id="rId9"/>
            </p:custDataLst>
          </p:nvPr>
        </p:nvSpPr>
        <p:spPr>
          <a:xfrm>
            <a:off x="134406" y="3933585"/>
            <a:ext cx="544549" cy="544549"/>
          </a:xfrm>
          <a:prstGeom prst="ellipse">
            <a:avLst/>
          </a:prstGeom>
          <a:solidFill>
            <a:srgbClr val="FF0000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03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42" name="矩形 13"/>
          <p:cNvSpPr/>
          <p:nvPr>
            <p:custDataLst>
              <p:tags r:id="rId10"/>
            </p:custDataLst>
          </p:nvPr>
        </p:nvSpPr>
        <p:spPr>
          <a:xfrm>
            <a:off x="854710" y="5521960"/>
            <a:ext cx="3791585" cy="461645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Total Profit = SUM(Fact_Orders[Benefit per order])</a:t>
            </a:r>
            <a:endParaRPr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3" name="矩形 14"/>
          <p:cNvSpPr/>
          <p:nvPr>
            <p:custDataLst>
              <p:tags r:id="rId11"/>
            </p:custDataLst>
          </p:nvPr>
        </p:nvSpPr>
        <p:spPr>
          <a:xfrm>
            <a:off x="854710" y="5259070"/>
            <a:ext cx="3650615" cy="32575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FF0000"/>
                </a:solidFill>
                <a:latin typeface="+mj-lt"/>
              </a:rPr>
              <a:t>Total Profit</a:t>
            </a:r>
            <a:endParaRPr lang="en-US" altLang="en-US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4" name="椭圆 15"/>
          <p:cNvSpPr/>
          <p:nvPr>
            <p:custDataLst>
              <p:tags r:id="rId12"/>
            </p:custDataLst>
          </p:nvPr>
        </p:nvSpPr>
        <p:spPr>
          <a:xfrm>
            <a:off x="136500" y="5155907"/>
            <a:ext cx="544549" cy="544549"/>
          </a:xfrm>
          <a:prstGeom prst="ellipse">
            <a:avLst/>
          </a:prstGeom>
          <a:solidFill>
            <a:srgbClr val="FF0000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04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47" name="矩形 17"/>
          <p:cNvSpPr/>
          <p:nvPr>
            <p:custDataLst>
              <p:tags r:id="rId13"/>
            </p:custDataLst>
          </p:nvPr>
        </p:nvSpPr>
        <p:spPr>
          <a:xfrm>
            <a:off x="839551" y="6201366"/>
            <a:ext cx="7326486" cy="6088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Total Sales = SUM(Fact_Orders[Sales per customer])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8" name="矩形 18"/>
          <p:cNvSpPr/>
          <p:nvPr>
            <p:custDataLst>
              <p:tags r:id="rId14"/>
            </p:custDataLst>
          </p:nvPr>
        </p:nvSpPr>
        <p:spPr>
          <a:xfrm>
            <a:off x="834918" y="6009359"/>
            <a:ext cx="4667348" cy="32597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FF0000"/>
                </a:solidFill>
                <a:latin typeface="+mj-lt"/>
              </a:rPr>
              <a:t>Total Sales</a:t>
            </a:r>
            <a:endParaRPr lang="en-US" altLang="en-US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9" name="椭圆 19"/>
          <p:cNvSpPr/>
          <p:nvPr>
            <p:custDataLst>
              <p:tags r:id="rId15"/>
            </p:custDataLst>
          </p:nvPr>
        </p:nvSpPr>
        <p:spPr>
          <a:xfrm>
            <a:off x="130126" y="6009805"/>
            <a:ext cx="544549" cy="544549"/>
          </a:xfrm>
          <a:prstGeom prst="ellipse">
            <a:avLst/>
          </a:prstGeom>
          <a:solidFill>
            <a:srgbClr val="FF0000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05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387985" y="160020"/>
            <a:ext cx="10986135" cy="6946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en-US" altLang="en-US" sz="4000" b="1">
                <a:latin typeface="Lucida Bright" panose="02040602050505020304" charset="0"/>
                <a:cs typeface="Lucida Bright" panose="02040602050505020304" charset="0"/>
                <a:sym typeface="+mn-ea"/>
              </a:rPr>
              <a:t>Key DAX Measures</a:t>
            </a:r>
            <a:endParaRPr lang="en-US" altLang="en-US" sz="4000" b="1" spc="0">
              <a:latin typeface="Lucida Bright" panose="02040602050505020304" charset="0"/>
              <a:cs typeface="Lucida Bright" panose="02040602050505020304" charset="0"/>
            </a:endParaRPr>
          </a:p>
          <a:p>
            <a:pPr algn="ctr"/>
            <a:endParaRPr lang="en-US" altLang="en-US" sz="4000" b="1" spc="0">
              <a:latin typeface="Lucida Bright" panose="02040602050505020304" charset="0"/>
              <a:cs typeface="Lucida Bright" panose="02040602050505020304" charset="0"/>
            </a:endParaRPr>
          </a:p>
        </p:txBody>
      </p:sp>
      <p:pic>
        <p:nvPicPr>
          <p:cNvPr id="54" name="Picture 53" descr="Capture"/>
          <p:cNvPicPr>
            <a:picLocks noChangeAspect="1"/>
          </p:cNvPicPr>
          <p:nvPr/>
        </p:nvPicPr>
        <p:blipFill>
          <a:blip r:embed="rId16"/>
          <a:srcRect r="741" b="2104"/>
          <a:stretch>
            <a:fillRect/>
          </a:stretch>
        </p:blipFill>
        <p:spPr>
          <a:xfrm>
            <a:off x="8754110" y="1652905"/>
            <a:ext cx="3242310" cy="3549650"/>
          </a:xfrm>
          <a:prstGeom prst="round2DiagRect">
            <a:avLst>
              <a:gd name="adj1" fmla="val 16667"/>
              <a:gd name="adj2" fmla="val 0"/>
            </a:avLst>
          </a:prstGeom>
          <a:ln>
            <a:solidFill>
              <a:schemeClr val="tx1"/>
            </a:solidFill>
          </a:ln>
        </p:spPr>
      </p:pic>
      <p:sp>
        <p:nvSpPr>
          <p:cNvPr id="2" name="Text Box 1"/>
          <p:cNvSpPr txBox="1"/>
          <p:nvPr/>
        </p:nvSpPr>
        <p:spPr>
          <a:xfrm>
            <a:off x="4860290" y="5351145"/>
            <a:ext cx="3774440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300">
                <a:solidFill>
                  <a:srgbClr val="0070C0"/>
                </a:solidFill>
                <a:sym typeface="+mn-ea"/>
              </a:rPr>
              <a:t>Purpose: Measures total profit to evaluate business performance and identify profitable products and categories.</a:t>
            </a:r>
            <a:endParaRPr lang="en-US" altLang="en-US" sz="1300"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828540" y="6201410"/>
            <a:ext cx="3792220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300">
                <a:solidFill>
                  <a:srgbClr val="0070C0"/>
                </a:solidFill>
              </a:rPr>
              <a:t>Purpose:Measures total sales revenue to monitor business performance and analyze sales trends.</a:t>
            </a:r>
            <a:endParaRPr lang="en-US" altLang="en-US" sz="13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3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257810" y="90170"/>
            <a:ext cx="11652250" cy="891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7365" y="184785"/>
            <a:ext cx="11234420" cy="796925"/>
          </a:xfrm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sz="4800" b="1" spc="0" dirty="0"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     OVERVIEW</a:t>
            </a:r>
            <a:endParaRPr lang="en-US" altLang="en-US" sz="4800" b="1" spc="0" dirty="0"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9114783" y="1133796"/>
            <a:ext cx="2626777" cy="591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ln w="15875"/>
                <a:solidFill>
                  <a:schemeClr val="bg1"/>
                </a:solidFill>
                <a:effectLst/>
                <a:latin typeface="+mj-lt"/>
              </a:rPr>
              <a:t>📊  KPIs (Cards)</a:t>
            </a:r>
            <a:endParaRPr lang="en-US" sz="3200" b="1" dirty="0">
              <a:ln w="15875"/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8767445" y="1666240"/>
            <a:ext cx="3297555" cy="47351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lnSpcReduction="2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Total Sales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Revenue snapshot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Overall performance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Business health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Average Shipping Delay (Days)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</a:t>
            </a: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: 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Delivery efficiency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Delay monitoring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Late Delivery %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sz="14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sym typeface="+mn-ea"/>
              </a:rPr>
              <a:t>Service level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/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sym typeface="+mn-ea"/>
              </a:rPr>
              <a:t>Risk monitoring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/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/>
                </a:solidFill>
                <a:sym typeface="+mn-ea"/>
              </a:rPr>
              <a:t>Performance quality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3686175" y="1106170"/>
            <a:ext cx="2880360" cy="5918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n w="15875"/>
                <a:solidFill>
                  <a:schemeClr val="bg1"/>
                </a:solidFill>
                <a:effectLst/>
                <a:latin typeface="+mj-lt"/>
              </a:rPr>
              <a:t>📈</a:t>
            </a:r>
            <a:r>
              <a:rPr lang="en-US" altLang="en-US" sz="3200" b="1" dirty="0">
                <a:ln w="15875"/>
                <a:solidFill>
                  <a:schemeClr val="bg1"/>
                </a:solidFill>
                <a:effectLst/>
                <a:latin typeface="+mj-lt"/>
              </a:rPr>
              <a:t>  Visuals Used</a:t>
            </a:r>
            <a:endParaRPr lang="en-US" altLang="en-US" sz="3200" b="1" dirty="0">
              <a:ln w="15875"/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507365" y="1666240"/>
            <a:ext cx="5041265" cy="499364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fontScale="25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64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cs typeface="+mj-lt"/>
              </a:rPr>
              <a:t>Clustered Column Chart -Total Sales by Month (Order Date</a:t>
            </a:r>
            <a:r>
              <a:rPr lang="en-US" altLang="en-US" sz="64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)</a:t>
            </a:r>
            <a:endParaRPr lang="en-US" altLang="en-US" sz="64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endParaRPr lang="en-US" altLang="en-US" sz="48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Monthly trend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Sales comparison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Performance tracking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64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cs typeface="+mj-lt"/>
              </a:rPr>
              <a:t>Clustered Bar Chart Average Shipping Delay (Days) by Product</a:t>
            </a:r>
            <a:endParaRPr lang="en-US" altLang="en-US" sz="6400" b="1" dirty="0">
              <a:ln>
                <a:noFill/>
                <a:prstDash val="sysDot"/>
              </a:ln>
              <a:solidFill>
                <a:schemeClr val="tx1"/>
              </a:solidFill>
              <a:latin typeface="+mj-lt"/>
              <a:cs typeface="+mj-lt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48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endParaRPr lang="en-US" altLang="en-US" sz="48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</a:rPr>
              <a:t>Product comparison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/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</a:rPr>
              <a:t>Delay identification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/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</a:rPr>
              <a:t>Bottleneck detection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/>
              </a:solidFill>
              <a:cs typeface="+mn-lt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64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j-lt"/>
                <a:cs typeface="+mj-lt"/>
                <a:sym typeface="+mn-ea"/>
              </a:rPr>
              <a:t>100% Stacked Column Chart  Late Delivery % by Category</a:t>
            </a:r>
            <a:endParaRPr lang="en-US" altLang="en-US" sz="6400" b="1" dirty="0">
              <a:ln>
                <a:noFill/>
                <a:prstDash val="sysDot"/>
              </a:ln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48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48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Analyzes revenue trend over time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Identifies growth and decline periods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Supports financial planning and performance tracking.</a:t>
            </a:r>
            <a:endParaRPr lang="en-US" altLang="en-US" sz="5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5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5792470" y="3549650"/>
            <a:ext cx="2030095" cy="5918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n w="15875"/>
                <a:solidFill>
                  <a:schemeClr val="bg1"/>
                </a:solidFill>
                <a:effectLst/>
                <a:latin typeface="+mj-lt"/>
              </a:rPr>
              <a:t>🎛</a:t>
            </a:r>
            <a:r>
              <a:rPr lang="en-US" altLang="zh-CN" sz="3200" b="1" dirty="0">
                <a:ln w="15875"/>
                <a:solidFill>
                  <a:schemeClr val="bg1"/>
                </a:solidFill>
                <a:effectLst/>
                <a:latin typeface="+mj-lt"/>
              </a:rPr>
              <a:t>  </a:t>
            </a:r>
            <a:r>
              <a:rPr lang="en-US" altLang="en-US" sz="3200" b="1" dirty="0">
                <a:ln w="15875"/>
                <a:solidFill>
                  <a:schemeClr val="bg1"/>
                </a:solidFill>
                <a:effectLst/>
                <a:latin typeface="+mj-lt"/>
              </a:rPr>
              <a:t>Slicers</a:t>
            </a:r>
            <a:endParaRPr lang="en-US" altLang="en-US" sz="3200" b="1" dirty="0">
              <a:ln w="15875"/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548630" y="1726565"/>
            <a:ext cx="3070225" cy="174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>
                <a:latin typeface="+mj-lt"/>
                <a:cs typeface="+mj-lt"/>
              </a:rPr>
              <a:t>Clustered Column Chartotal Sales by Category</a:t>
            </a:r>
            <a:endParaRPr lang="en-US" altLang="en-US" sz="1600" b="1">
              <a:latin typeface="+mj-lt"/>
              <a:cs typeface="+mj-lt"/>
            </a:endParaRPr>
          </a:p>
          <a:p>
            <a:r>
              <a:rPr lang="en-US" altLang="en-US" sz="12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2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>
                <a:cs typeface="+mn-lt"/>
              </a:rPr>
              <a:t>Category comparison</a:t>
            </a:r>
            <a:endParaRPr lang="en-US" altLang="en-US" sz="140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>
                <a:cs typeface="+mn-lt"/>
              </a:rPr>
              <a:t>Revenue contribution</a:t>
            </a:r>
            <a:endParaRPr lang="en-US" altLang="en-US" sz="140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>
                <a:cs typeface="+mn-lt"/>
              </a:rPr>
              <a:t>Performance ranking</a:t>
            </a:r>
            <a:endParaRPr lang="en-US" altLang="en-US" sz="1400"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549265" y="4218305"/>
            <a:ext cx="3068955" cy="2183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Month-Year (Order Date)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Time filter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Period focus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Trend view</a:t>
            </a:r>
            <a:endParaRPr lang="en-US" altLang="en-US" sz="1400"/>
          </a:p>
          <a:p>
            <a:r>
              <a:rPr lang="en-US" altLang="en-US"/>
              <a:t>Category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Segment filter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Drill-down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Comparison</a:t>
            </a:r>
            <a:endParaRPr lang="en-US" altLang="en-US" sz="1400"/>
          </a:p>
        </p:txBody>
      </p:sp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05" y="208915"/>
            <a:ext cx="11708765" cy="787400"/>
          </a:xfrm>
          <a:solidFill>
            <a:schemeClr val="bg1"/>
          </a:solidFill>
        </p:spPr>
        <p:txBody>
          <a:bodyPr>
            <a:noAutofit/>
          </a:bodyPr>
          <a:p>
            <a:r>
              <a:rPr lang="en-US" altLang="en-US" sz="4800"/>
              <a:t>             Supply Chain &amp; Shipping Overview</a:t>
            </a:r>
            <a:endParaRPr lang="en-US" altLang="en-US" sz="4800"/>
          </a:p>
        </p:txBody>
      </p:sp>
      <p:pic>
        <p:nvPicPr>
          <p:cNvPr id="5" name="图片 2" descr="C:/Users/sree/Pictures/Camera Roll/images (14).jpgimages (14)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28033" t="-514" r="12761" b="514"/>
          <a:stretch>
            <a:fillRect/>
          </a:stretch>
        </p:blipFill>
        <p:spPr>
          <a:xfrm>
            <a:off x="805180" y="1181100"/>
            <a:ext cx="1979295" cy="2224405"/>
          </a:xfrm>
          <a:prstGeom prst="round2DiagRect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矩形 1"/>
          <p:cNvSpPr/>
          <p:nvPr>
            <p:custDataLst>
              <p:tags r:id="rId3"/>
            </p:custDataLst>
          </p:nvPr>
        </p:nvSpPr>
        <p:spPr>
          <a:xfrm>
            <a:off x="480695" y="4785360"/>
            <a:ext cx="2679065" cy="18478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Purpose 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Top delays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Bottleneck ranking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Priority focus</a:t>
            </a:r>
            <a:endParaRPr lang="en-US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4" name="矩形: 圆角 3"/>
          <p:cNvSpPr/>
          <p:nvPr>
            <p:custDataLst>
              <p:tags r:id="rId4"/>
            </p:custDataLst>
          </p:nvPr>
        </p:nvSpPr>
        <p:spPr>
          <a:xfrm>
            <a:off x="622300" y="3590290"/>
            <a:ext cx="2406650" cy="1036955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1">
                    <a:alpha val="50000"/>
                  </a:schemeClr>
                </a:gs>
                <a:gs pos="95000">
                  <a:schemeClr val="accent1">
                    <a:alpha val="0"/>
                  </a:schemeClr>
                </a:gs>
                <a:gs pos="5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2"/>
                </a:solidFill>
                <a:latin typeface="+mj-lt"/>
                <a:sym typeface="+mn-ea"/>
              </a:rPr>
              <a:t>Clustered Bar Chart</a:t>
            </a:r>
            <a:endParaRPr lang="en-US" altLang="en-US" sz="1600" b="1">
              <a:solidFill>
                <a:schemeClr val="accent2"/>
              </a:solidFill>
              <a:latin typeface="+mj-lt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2"/>
                </a:solidFill>
                <a:latin typeface="+mj-lt"/>
                <a:sym typeface="+mn-ea"/>
              </a:rPr>
              <a:t>Top 10 Products by Average Shipping Delay (Days)</a:t>
            </a:r>
            <a:endParaRPr lang="en-US" altLang="en-US" sz="1600" b="1">
              <a:solidFill>
                <a:schemeClr val="accent2"/>
              </a:solidFill>
              <a:latin typeface="+mj-lt"/>
              <a:sym typeface="+mn-ea"/>
            </a:endParaRPr>
          </a:p>
        </p:txBody>
      </p:sp>
      <p:pic>
        <p:nvPicPr>
          <p:cNvPr id="27" name="图片 26" descr="C:/Users/sree/Pictures/Camera Roll/images (12).jpgimages (12)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 l="25093" r="25093"/>
          <a:stretch>
            <a:fillRect/>
          </a:stretch>
        </p:blipFill>
        <p:spPr>
          <a:xfrm>
            <a:off x="3660775" y="1169670"/>
            <a:ext cx="1979295" cy="2224405"/>
          </a:xfrm>
          <a:prstGeom prst="round2DiagRect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 4"/>
          <p:cNvSpPr/>
          <p:nvPr>
            <p:custDataLst>
              <p:tags r:id="rId7"/>
            </p:custDataLst>
          </p:nvPr>
        </p:nvSpPr>
        <p:spPr>
          <a:xfrm>
            <a:off x="3512820" y="4787265"/>
            <a:ext cx="2406650" cy="18459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Purpose 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Delivery efficiency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Delay monitoring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Operational KPI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6" name="矩形: 圆角 5"/>
          <p:cNvSpPr/>
          <p:nvPr>
            <p:custDataLst>
              <p:tags r:id="rId8"/>
            </p:custDataLst>
          </p:nvPr>
        </p:nvSpPr>
        <p:spPr>
          <a:xfrm>
            <a:off x="3447415" y="3590290"/>
            <a:ext cx="2406650" cy="1022350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1">
                    <a:alpha val="50000"/>
                  </a:schemeClr>
                </a:gs>
                <a:gs pos="95000">
                  <a:schemeClr val="accent1">
                    <a:alpha val="0"/>
                  </a:schemeClr>
                </a:gs>
                <a:gs pos="5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2"/>
                </a:solidFill>
                <a:latin typeface="+mj-lt"/>
                <a:sym typeface="+mn-ea"/>
              </a:rPr>
              <a:t>KPI Card</a:t>
            </a:r>
            <a:endParaRPr lang="en-US" altLang="en-US" sz="1600" b="1" dirty="0">
              <a:solidFill>
                <a:schemeClr val="accent2"/>
              </a:solidFill>
              <a:latin typeface="+mj-lt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2"/>
                </a:solidFill>
                <a:latin typeface="+mj-lt"/>
                <a:sym typeface="+mn-ea"/>
              </a:rPr>
              <a:t>Average Shipping Delay (Days)</a:t>
            </a:r>
            <a:endParaRPr lang="en-US" altLang="en-US" sz="16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pic>
        <p:nvPicPr>
          <p:cNvPr id="32" name="图片 31" descr="C:/Users/sree/Pictures/Camera Roll/images (11).jpgimages (11)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 l="21045" r="21045"/>
          <a:stretch>
            <a:fillRect/>
          </a:stretch>
        </p:blipFill>
        <p:spPr>
          <a:xfrm>
            <a:off x="6442075" y="1169670"/>
            <a:ext cx="1978660" cy="2223770"/>
          </a:xfrm>
          <a:prstGeom prst="round2DiagRect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" name="矩形 7"/>
          <p:cNvSpPr/>
          <p:nvPr>
            <p:custDataLst>
              <p:tags r:id="rId11"/>
            </p:custDataLst>
          </p:nvPr>
        </p:nvSpPr>
        <p:spPr>
          <a:xfrm>
            <a:off x="6272530" y="4774565"/>
            <a:ext cx="2406650" cy="18586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Purpose 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Product overview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KPI comparison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Issue spotting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8" name="矩形: 圆角 8"/>
          <p:cNvSpPr/>
          <p:nvPr>
            <p:custDataLst>
              <p:tags r:id="rId12"/>
            </p:custDataLst>
          </p:nvPr>
        </p:nvSpPr>
        <p:spPr>
          <a:xfrm>
            <a:off x="6240145" y="3590290"/>
            <a:ext cx="2406650" cy="1022350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1">
                    <a:alpha val="50000"/>
                  </a:schemeClr>
                </a:gs>
                <a:gs pos="95000">
                  <a:schemeClr val="accent1">
                    <a:alpha val="0"/>
                  </a:schemeClr>
                </a:gs>
                <a:gs pos="5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2"/>
                </a:solidFill>
                <a:latin typeface="+mj-lt"/>
                <a:sym typeface="+mn-ea"/>
              </a:rPr>
              <a:t>Table</a:t>
            </a:r>
            <a:endParaRPr lang="en-US" altLang="en-US" sz="1600" b="1" dirty="0">
              <a:solidFill>
                <a:schemeClr val="accent2"/>
              </a:solidFill>
              <a:latin typeface="+mj-lt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2"/>
                </a:solidFill>
                <a:latin typeface="+mj-lt"/>
                <a:sym typeface="+mn-ea"/>
              </a:rPr>
              <a:t> Product Delivery Performance Summary</a:t>
            </a:r>
            <a:endParaRPr lang="en-US" altLang="en-US" sz="16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pic>
        <p:nvPicPr>
          <p:cNvPr id="43" name="图片 42" descr="C:/Users/sree/Pictures/Camera Roll/Understanding-the-Evolving-Landscape-of-the-Global-Business-Environment.jpgUnderstanding-the-Evolving-Landscape-of-the-Global-Business-Environment"/>
          <p:cNvPicPr>
            <a:picLocks noChangeAspect="1"/>
          </p:cNvPicPr>
          <p:nvPr>
            <p:custDataLst>
              <p:tags r:id="rId13"/>
            </p:custDataLst>
          </p:nvPr>
        </p:nvPicPr>
        <p:blipFill rotWithShape="1">
          <a:blip r:embed="rId14"/>
          <a:srcRect l="24058" r="24058"/>
          <a:stretch>
            <a:fillRect/>
          </a:stretch>
        </p:blipFill>
        <p:spPr>
          <a:xfrm>
            <a:off x="9311640" y="1156335"/>
            <a:ext cx="1978660" cy="2223770"/>
          </a:xfrm>
          <a:prstGeom prst="round2DiagRect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矩形: 圆角 10"/>
          <p:cNvSpPr/>
          <p:nvPr>
            <p:custDataLst>
              <p:tags r:id="rId15"/>
            </p:custDataLst>
          </p:nvPr>
        </p:nvSpPr>
        <p:spPr>
          <a:xfrm>
            <a:off x="9097645" y="3594735"/>
            <a:ext cx="2406650" cy="755650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accent1">
                    <a:alpha val="50000"/>
                  </a:schemeClr>
                </a:gs>
                <a:gs pos="95000">
                  <a:schemeClr val="accent1">
                    <a:alpha val="0"/>
                  </a:schemeClr>
                </a:gs>
                <a:gs pos="500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</a:ln>
          <a:effectLst>
            <a:outerShdw blurRad="127000" dist="76200" dir="2700000" algn="ctr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accent2"/>
                </a:solidFill>
                <a:latin typeface="+mj-lt"/>
                <a:sym typeface="+mn-ea"/>
              </a:rPr>
              <a:t>Slicers</a:t>
            </a:r>
            <a:endParaRPr lang="en-US" altLang="en-US" sz="24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9102725" y="4350385"/>
            <a:ext cx="2744470" cy="2336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bg1"/>
                </a:solidFill>
              </a:rPr>
              <a:t>Category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Segment filter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Drill-down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Comparison</a:t>
            </a:r>
            <a:endParaRPr lang="en-US" altLang="en-US" sz="1600"/>
          </a:p>
          <a:p>
            <a:r>
              <a:rPr lang="en-US" altLang="en-US">
                <a:solidFill>
                  <a:schemeClr val="bg1"/>
                </a:solidFill>
              </a:rPr>
              <a:t>Month (Order Date)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Time filter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Period focus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Trend view</a:t>
            </a:r>
            <a:endParaRPr lang="en-US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805" y="156210"/>
            <a:ext cx="10515600" cy="716915"/>
          </a:xfrm>
          <a:solidFill>
            <a:schemeClr val="bg1"/>
          </a:solidFill>
        </p:spPr>
        <p:txBody>
          <a:bodyPr>
            <a:noAutofit/>
          </a:bodyPr>
          <a:p>
            <a:pPr algn="ctr"/>
            <a:r>
              <a:rPr lang="en-US" altLang="en-US" sz="5400"/>
              <a:t>Product Performance</a:t>
            </a:r>
            <a:endParaRPr lang="en-US" altLang="en-US" sz="5400"/>
          </a:p>
        </p:txBody>
      </p:sp>
      <p:pic>
        <p:nvPicPr>
          <p:cNvPr id="22" name="图片 21" descr="C:/Users/sree/Pictures/Camera Roll/download (7).jpgdownload (7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7835" t="334" r="4530" b="-334"/>
          <a:stretch>
            <a:fillRect/>
          </a:stretch>
        </p:blipFill>
        <p:spPr>
          <a:xfrm flipH="1">
            <a:off x="4031836" y="3902497"/>
            <a:ext cx="3881359" cy="2659786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3" name="图片 22" descr="C:/Users/sree/Pictures/Camera Roll/download (6).jpgdownload (6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8869" t="1480" r="18165" b="-1480"/>
          <a:stretch>
            <a:fillRect/>
          </a:stretch>
        </p:blipFill>
        <p:spPr>
          <a:xfrm>
            <a:off x="149225" y="1242085"/>
            <a:ext cx="3882611" cy="2660412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4" name="图片 23" descr="C:/Users/sree/Pictures/Camera Roll/free-business-benefits-vector-pgq2y.jpgfree-business-benefits-vector-pgq2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5743" b="15743"/>
          <a:stretch>
            <a:fillRect/>
          </a:stretch>
        </p:blipFill>
        <p:spPr>
          <a:xfrm flipH="1">
            <a:off x="7912148" y="1242085"/>
            <a:ext cx="3883369" cy="2660956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" name="正文"/>
          <p:cNvSpPr txBox="1"/>
          <p:nvPr>
            <p:custDataLst>
              <p:tags r:id="rId7"/>
            </p:custDataLst>
          </p:nvPr>
        </p:nvSpPr>
        <p:spPr>
          <a:xfrm>
            <a:off x="164438" y="4752329"/>
            <a:ext cx="3687371" cy="18097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indent="0" algn="just" fontAlgn="auto">
              <a:lnSpc>
                <a:spcPct val="150000"/>
              </a:lnSpc>
              <a:defRPr sz="1600" spc="13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l"/>
            <a:r>
              <a:rPr lang="en-US" altLang="en-US" sz="1800" spc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Purpose </a:t>
            </a:r>
            <a:endParaRPr lang="en-US" altLang="en-US" sz="1800" spc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Profit comparison</a:t>
            </a:r>
            <a:endParaRPr lang="en-US" altLang="en-US" sz="1800" spc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Product profitability</a:t>
            </a:r>
            <a:endParaRPr lang="en-US" altLang="en-US" sz="1800" spc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Top performers</a:t>
            </a:r>
            <a:endParaRPr lang="en-US" altLang="en-US" sz="1800" spc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8"/>
            </p:custDataLst>
          </p:nvPr>
        </p:nvSpPr>
        <p:spPr>
          <a:xfrm>
            <a:off x="4364002" y="1830509"/>
            <a:ext cx="3216705" cy="17469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indent="0" algn="just" fontAlgn="auto">
              <a:lnSpc>
                <a:spcPct val="150000"/>
              </a:lnSpc>
              <a:defRPr sz="1600" spc="13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l"/>
            <a:r>
              <a:rPr lang="en-US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Purpose</a:t>
            </a:r>
            <a:endParaRPr lang="en-US" altLang="en-US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Sales distribution</a:t>
            </a:r>
            <a:endParaRPr lang="en-US" altLang="en-US" sz="1800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Product contribution</a:t>
            </a:r>
            <a:endParaRPr lang="en-US" altLang="en-US" sz="1800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Compare products</a:t>
            </a:r>
            <a:endParaRPr lang="en-US" altLang="en-US" sz="1800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8" name="正文"/>
          <p:cNvSpPr txBox="1"/>
          <p:nvPr>
            <p:custDataLst>
              <p:tags r:id="rId9"/>
            </p:custDataLst>
          </p:nvPr>
        </p:nvSpPr>
        <p:spPr>
          <a:xfrm>
            <a:off x="8172777" y="4533000"/>
            <a:ext cx="3850313" cy="2020826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lstStyle>
            <a:defPPr>
              <a:defRPr lang="en-US">
                <a:latin typeface="+mn-lt"/>
              </a:defRPr>
            </a:defPPr>
            <a:lvl1pPr indent="0" algn="just" fontAlgn="auto">
              <a:lnSpc>
                <a:spcPct val="150000"/>
              </a:lnSpc>
              <a:defRPr sz="1600" spc="13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l">
              <a:buNone/>
            </a:pPr>
            <a:r>
              <a:rPr lang="en-US" altLang="en-US" sz="2000" spc="0" dirty="0">
                <a:solidFill>
                  <a:schemeClr val="bg1"/>
                </a:solidFill>
                <a:sym typeface="+mn-ea"/>
              </a:rPr>
              <a:t>Category: </a:t>
            </a:r>
            <a:r>
              <a:rPr lang="en-US" altLang="en-US" sz="1800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Segment filter, Focus analysis,</a:t>
            </a:r>
            <a:endParaRPr lang="en-US" altLang="en-US" sz="1800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algn="l"/>
            <a:r>
              <a:rPr lang="en-US" altLang="en-US" sz="1800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Comparison.</a:t>
            </a:r>
            <a:endParaRPr lang="en-US" altLang="en-US" sz="1800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algn="l"/>
            <a:r>
              <a:rPr lang="en-US" altLang="en-US" sz="2000" spc="0" dirty="0">
                <a:solidFill>
                  <a:schemeClr val="bg1"/>
                </a:solidFill>
                <a:sym typeface="+mn-ea"/>
              </a:rPr>
              <a:t>Month (Order Date): </a:t>
            </a:r>
            <a:r>
              <a:rPr lang="en-US" altLang="en-US" sz="1800" spc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Time filter, Period focus ,Trend view.</a:t>
            </a:r>
            <a:endParaRPr lang="en-US" altLang="en-US" sz="1800" spc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标题"/>
          <p:cNvSpPr txBox="1"/>
          <p:nvPr>
            <p:custDataLst>
              <p:tags r:id="rId10"/>
            </p:custDataLst>
          </p:nvPr>
        </p:nvSpPr>
        <p:spPr>
          <a:xfrm>
            <a:off x="4892134" y="1242085"/>
            <a:ext cx="2915872" cy="538469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r>
              <a:rPr lang="en-US" altLang="en-US" sz="2000" b="1" dirty="0">
                <a:solidFill>
                  <a:schemeClr val="accent2"/>
                </a:solidFill>
                <a:latin typeface="+mj-lt"/>
                <a:sym typeface="+mn-ea"/>
              </a:rPr>
              <a:t>Stacked Bar Chart</a:t>
            </a:r>
            <a:endParaRPr lang="en-US" altLang="en-US" sz="2000" b="1" dirty="0">
              <a:solidFill>
                <a:schemeClr val="accent2"/>
              </a:solidFill>
              <a:latin typeface="+mj-lt"/>
              <a:sym typeface="+mn-ea"/>
            </a:endParaRPr>
          </a:p>
          <a:p>
            <a:r>
              <a:rPr lang="en-US" altLang="en-US" sz="2000" b="1" dirty="0">
                <a:solidFill>
                  <a:schemeClr val="accent2"/>
                </a:solidFill>
                <a:latin typeface="+mj-lt"/>
                <a:sym typeface="+mn-ea"/>
              </a:rPr>
              <a:t>Total Sales by Product</a:t>
            </a:r>
            <a:endParaRPr lang="en-US" altLang="en-US" sz="20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sp>
        <p:nvSpPr>
          <p:cNvPr id="5" name="标题"/>
          <p:cNvSpPr txBox="1"/>
          <p:nvPr>
            <p:custDataLst>
              <p:tags r:id="rId11"/>
            </p:custDataLst>
          </p:nvPr>
        </p:nvSpPr>
        <p:spPr>
          <a:xfrm>
            <a:off x="8954027" y="4138878"/>
            <a:ext cx="2858017" cy="3941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b="1" dirty="0">
                <a:solidFill>
                  <a:schemeClr val="accent2"/>
                </a:solidFill>
                <a:latin typeface="+mj-lt"/>
                <a:sym typeface="+mn-ea"/>
              </a:rPr>
              <a:t>Slicers</a:t>
            </a:r>
            <a:endParaRPr lang="en-US" altLang="en-US" sz="24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sp>
        <p:nvSpPr>
          <p:cNvPr id="6" name="标题"/>
          <p:cNvSpPr txBox="1"/>
          <p:nvPr>
            <p:custDataLst>
              <p:tags r:id="rId12"/>
            </p:custDataLst>
          </p:nvPr>
        </p:nvSpPr>
        <p:spPr>
          <a:xfrm>
            <a:off x="902672" y="3903132"/>
            <a:ext cx="2868912" cy="8496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200" b="1" dirty="0">
                <a:solidFill>
                  <a:schemeClr val="accent2"/>
                </a:solidFill>
                <a:latin typeface="+mj-lt"/>
                <a:sym typeface="+mn-ea"/>
              </a:rPr>
              <a:t>Clustered Column Chart</a:t>
            </a:r>
            <a:endParaRPr lang="en-US" altLang="en-US" sz="2200" b="1" dirty="0">
              <a:solidFill>
                <a:schemeClr val="accent2"/>
              </a:solidFill>
              <a:latin typeface="+mj-lt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en-US" sz="2200" b="1" dirty="0">
                <a:solidFill>
                  <a:schemeClr val="accent2"/>
                </a:solidFill>
                <a:latin typeface="+mj-lt"/>
                <a:sym typeface="+mn-ea"/>
              </a:rPr>
              <a:t>Total Profit by Product</a:t>
            </a:r>
            <a:endParaRPr lang="en-US" altLang="en-US" sz="22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sp>
        <p:nvSpPr>
          <p:cNvPr id="17" name="标题"/>
          <p:cNvSpPr txBox="1"/>
          <p:nvPr>
            <p:custDataLst>
              <p:tags r:id="rId13"/>
            </p:custDataLst>
          </p:nvPr>
        </p:nvSpPr>
        <p:spPr>
          <a:xfrm>
            <a:off x="4147043" y="1242085"/>
            <a:ext cx="744465" cy="5384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sym typeface="+mn-lt"/>
              </a:rPr>
              <a:t>02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0" name="标题"/>
          <p:cNvSpPr txBox="1"/>
          <p:nvPr>
            <p:custDataLst>
              <p:tags r:id="rId14"/>
            </p:custDataLst>
          </p:nvPr>
        </p:nvSpPr>
        <p:spPr>
          <a:xfrm>
            <a:off x="8159630" y="4138979"/>
            <a:ext cx="705019" cy="39383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sym typeface="+mn-lt"/>
              </a:rPr>
              <a:t>03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1" name="标题"/>
          <p:cNvSpPr txBox="1"/>
          <p:nvPr>
            <p:custDataLst>
              <p:tags r:id="rId15"/>
            </p:custDataLst>
          </p:nvPr>
        </p:nvSpPr>
        <p:spPr>
          <a:xfrm>
            <a:off x="164252" y="4082845"/>
            <a:ext cx="588559" cy="44955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sym typeface="+mn-lt"/>
              </a:rPr>
              <a:t>01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>
                <a:alpha val="21000"/>
              </a:schemeClr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99390"/>
            <a:ext cx="10800080" cy="579120"/>
          </a:xfrm>
          <a:solidFill>
            <a:schemeClr val="bg1"/>
          </a:solidFill>
        </p:spPr>
        <p:txBody>
          <a:bodyPr wrap="square">
            <a:normAutofit fontScale="90000"/>
          </a:bodyPr>
          <a:lstStyle/>
          <a:p>
            <a:r>
              <a:rPr lang="en-US" sz="4400" spc="0">
                <a:latin typeface="+mj-lt"/>
              </a:rPr>
              <a:t>Why This Project? | Value | Impact</a:t>
            </a:r>
            <a:endParaRPr lang="en-US" sz="4400" spc="0">
              <a:latin typeface="+mj-lt"/>
            </a:endParaRPr>
          </a:p>
        </p:txBody>
      </p:sp>
      <p:pic>
        <p:nvPicPr>
          <p:cNvPr id="2" name="图片 1" descr="C:/Users/sree/Pictures/Camera Roll/download (1).pngdownload (1)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5824" r="5824"/>
          <a:stretch>
            <a:fillRect/>
          </a:stretch>
        </p:blipFill>
        <p:spPr>
          <a:xfrm>
            <a:off x="3384494" y="1055381"/>
            <a:ext cx="2634305" cy="2110131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 descr="C:/Users/sree/Pictures/Camera Roll/download (5).jpgdownload (5)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16657" r="16657"/>
          <a:stretch>
            <a:fillRect/>
          </a:stretch>
        </p:blipFill>
        <p:spPr>
          <a:xfrm>
            <a:off x="9352380" y="1055381"/>
            <a:ext cx="2634305" cy="2110131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4" name="图片 3" descr="C:/Users/sree/Pictures/Camera Roll/download.jpgdownload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t="9949" b="9949"/>
          <a:stretch>
            <a:fillRect/>
          </a:stretch>
        </p:blipFill>
        <p:spPr>
          <a:xfrm>
            <a:off x="405994" y="1055381"/>
            <a:ext cx="2634305" cy="2110131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" name="图片 4" descr="C:/Users/sree/Pictures/Camera Roll/download (4).jpgdownload (4)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8472" r="8472"/>
          <a:stretch>
            <a:fillRect/>
          </a:stretch>
        </p:blipFill>
        <p:spPr>
          <a:xfrm>
            <a:off x="6380003" y="1055381"/>
            <a:ext cx="2634305" cy="2110131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6" name="直接连接符 5"/>
          <p:cNvCxnSpPr/>
          <p:nvPr>
            <p:custDataLst>
              <p:tags r:id="rId10"/>
            </p:custDataLst>
          </p:nvPr>
        </p:nvCxnSpPr>
        <p:spPr>
          <a:xfrm flipV="1">
            <a:off x="426404" y="3337220"/>
            <a:ext cx="0" cy="2916652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516255" y="4083685"/>
            <a:ext cx="2694305" cy="270383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Inventory &amp; Supply Chain is a real business problem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Companies face issues in sales tracking &amp; delivery delays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This project helps to learn end-to-end Power BI (Power Query, Modeling, DAX, Visuals)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Useful for real-time business decision making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635000" y="3299460"/>
            <a:ext cx="2174875" cy="6959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chemeClr val="accent2"/>
                </a:solidFill>
                <a:latin typeface="+mj-lt"/>
                <a:sym typeface="+mn-ea"/>
              </a:rPr>
              <a:t>🔎</a:t>
            </a:r>
            <a:r>
              <a:rPr lang="en-US" altLang="en-US" sz="2000" b="1" kern="0" dirty="0">
                <a:solidFill>
                  <a:schemeClr val="accent2"/>
                </a:solidFill>
                <a:latin typeface="+mj-lt"/>
                <a:sym typeface="+mn-ea"/>
              </a:rPr>
              <a:t>  Why I Chose This Project</a:t>
            </a:r>
            <a:endParaRPr lang="en-US" altLang="en-US" sz="2000" b="1" kern="0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 flipV="1">
            <a:off x="3405584" y="3337220"/>
            <a:ext cx="0" cy="2916652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3614164" y="3995723"/>
            <a:ext cx="2394065" cy="225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No clear visibility of sales and profit trends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Late deliveries not monitored properly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Difficult to identify low-performing products &amp; categories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Manual reports cause slow decision making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3598742" y="3271763"/>
            <a:ext cx="2562106" cy="487113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❗Business Problems</a:t>
            </a:r>
            <a:endParaRPr lang="en-US" altLang="en-US" sz="2000" b="1" kern="0" dirty="0">
              <a:solidFill>
                <a:schemeClr val="accent2"/>
              </a:solidFill>
              <a:latin typeface="+mj-lt"/>
              <a:cs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6"/>
            </p:custDataLst>
          </p:nvPr>
        </p:nvCxnSpPr>
        <p:spPr>
          <a:xfrm flipV="1">
            <a:off x="6380003" y="3321572"/>
            <a:ext cx="0" cy="2916652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2" name="矩形 21"/>
          <p:cNvSpPr/>
          <p:nvPr>
            <p:custDataLst>
              <p:tags r:id="rId17"/>
            </p:custDataLst>
          </p:nvPr>
        </p:nvSpPr>
        <p:spPr>
          <a:xfrm>
            <a:off x="6598920" y="4084320"/>
            <a:ext cx="2519680" cy="257683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Automated monthly sales &amp; profit tracking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Clear monitoring of shipping delay &amp; late delivery %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Easy identification of top &amp; low performing products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Centralized dashboard for quick analysis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8"/>
            </p:custDataLst>
          </p:nvPr>
        </p:nvSpPr>
        <p:spPr>
          <a:xfrm>
            <a:off x="6623923" y="3337168"/>
            <a:ext cx="2532171" cy="6095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🔧</a:t>
            </a:r>
            <a:r>
              <a:rPr lang="en-US" altLang="en-US" sz="2000" b="1" kern="0" dirty="0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   Improvements After This Project</a:t>
            </a:r>
            <a:endParaRPr lang="en-US" altLang="en-US" sz="2000" b="1" kern="0" dirty="0">
              <a:solidFill>
                <a:schemeClr val="accent2"/>
              </a:solidFill>
              <a:latin typeface="+mj-lt"/>
              <a:cs typeface="+mj-lt"/>
              <a:sym typeface="+mn-ea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9"/>
            </p:custDataLst>
          </p:nvPr>
        </p:nvCxnSpPr>
        <p:spPr>
          <a:xfrm flipV="1">
            <a:off x="9352380" y="3321572"/>
            <a:ext cx="0" cy="2916652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9549765" y="3995420"/>
            <a:ext cx="2390140" cy="26701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Business Management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Supply Chain / Operations Team</a:t>
            </a: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Inventory / Warehouse Team 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Sales Team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21"/>
            </p:custDataLst>
          </p:nvPr>
        </p:nvSpPr>
        <p:spPr>
          <a:xfrm>
            <a:off x="9549323" y="3337168"/>
            <a:ext cx="2174320" cy="42112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👥</a:t>
            </a:r>
            <a:r>
              <a:rPr lang="en-US" altLang="en-US" sz="2000" b="1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  Who Benefits?</a:t>
            </a:r>
            <a:endParaRPr lang="en-US" altLang="en-US" sz="2000" b="1" kern="0" dirty="0">
              <a:solidFill>
                <a:schemeClr val="accent2"/>
              </a:solidFill>
              <a:latin typeface="+mj-lt"/>
              <a:cs typeface="+mj-lt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156835" y="1325245"/>
            <a:ext cx="5955665" cy="2451100"/>
          </a:xfrm>
        </p:spPr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446520" y="3480435"/>
            <a:ext cx="5056505" cy="77851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40000"/>
              </a:lnSpc>
            </a:pPr>
            <a:r>
              <a:rPr lang="en-US" altLang="en-US" sz="2400" b="1">
                <a:solidFill>
                  <a:schemeClr val="bg2">
                    <a:lumMod val="50000"/>
                  </a:schemeClr>
                </a:solidFill>
                <a:sym typeface="+mn-ea"/>
              </a:rPr>
              <a:t>Open for questions &amp; feedback</a:t>
            </a:r>
            <a:endParaRPr lang="en-US" altLang="en-US" sz="2400" b="1">
              <a:solidFill>
                <a:schemeClr val="bg2">
                  <a:lumMod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lang="en-US" altLang="en-US" sz="2400" b="1" kern="100" dirty="0">
              <a:solidFill>
                <a:schemeClr val="bg2">
                  <a:lumMod val="50000"/>
                </a:schemeClr>
              </a:solidFill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NUMDGMTITLE" val="0"/>
  <p:tag name="KSO_WM_UNIT_PRESET_TEXT" val="节编号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40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51"/>
</p:tagLst>
</file>

<file path=ppt/tags/tag107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51"/>
</p:tagLst>
</file>

<file path=ppt/tags/tag10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51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51_1*a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The title goes here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51_1*b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Add description"/>
</p:tagLst>
</file>

<file path=ppt/tags/tag111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51_1*f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Name"/>
</p:tagLst>
</file>

<file path=ppt/tags/tag112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5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51"/>
  <p:tag name="KSO_WM_SLIDE_LAYOUT" val="a_b_f"/>
  <p:tag name="KSO_WM_SLIDE_LAYOUT_CNT" val="1_1_2"/>
</p:tagLst>
</file>

<file path=ppt/tags/tag1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59_1*l_h_i*1_1_1"/>
  <p:tag name="KSO_WM_TEMPLATE_CATEGORY" val="diagram"/>
  <p:tag name="KSO_WM_TEMPLATE_INDEX" val="20238359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14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59_1*l_h_f*1_1_1"/>
  <p:tag name="KSO_WM_TEMPLATE_CATEGORY" val="diagram"/>
  <p:tag name="KSO_WM_TEMPLATE_INDEX" val="2023835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59_1*l_h_a*1_1_1"/>
  <p:tag name="KSO_WM_TEMPLATE_CATEGORY" val="diagram"/>
  <p:tag name="KSO_WM_TEMPLATE_INDEX" val="2023835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59_1*l_h_i*1_2_1"/>
  <p:tag name="KSO_WM_TEMPLATE_CATEGORY" val="diagram"/>
  <p:tag name="KSO_WM_TEMPLATE_INDEX" val="20238359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17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59_1*l_h_f*1_2_1"/>
  <p:tag name="KSO_WM_TEMPLATE_CATEGORY" val="diagram"/>
  <p:tag name="KSO_WM_TEMPLATE_INDEX" val="2023835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59_1*l_h_a*1_2_1"/>
  <p:tag name="KSO_WM_TEMPLATE_CATEGORY" val="diagram"/>
  <p:tag name="KSO_WM_TEMPLATE_INDEX" val="2023835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471*4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359_1*l_h_d*1_2_1"/>
  <p:tag name="KSO_WM_TEMPLATE_CATEGORY" val="diagram"/>
  <p:tag name="KSO_WM_TEMPLATE_INDEX" val="20238359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471*4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359_1*l_h_d*1_1_1"/>
  <p:tag name="KSO_WM_TEMPLATE_CATEGORY" val="diagram"/>
  <p:tag name="KSO_WM_TEMPLATE_INDEX" val="20238359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26.3,&quot;left&quot;:18.15,&quot;top&quot;:113.65,&quot;width&quot;:930.887487792968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4*l_h_i*1_1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122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4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3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6_4*l_h_f*1_1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4*l_h_i*1_4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125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4*l_h_a*1_4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6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56_4*l_h_f*1_4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4*l_h_i*1_3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128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4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9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6_4*l_h_f*1_3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4*l_h_i*1_2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131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4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2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6_4*l_h_f*1_2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36.7054387019225,&quot;left&quot;:12.17496337890625,&quot;top&quot;:90.55,&quot;width&quot;:930.8000732421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2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3"/>
  <p:tag name="KSO_WM_DIAGRAM_USE_COLOR_VALUE" val="{&quot;color_scheme&quot;:1,&quot;color_type&quot;:1,&quot;theme_color_indexes&quot;:[]}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4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4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5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5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DIAGRAM_USE_COLOR_VALUE" val="{&quot;color_scheme&quot;:1,&quot;color_type&quot;:1,&quot;theme_color_indexes&quot;:[]}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1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solid&quot;:{&quot;brightness&quot;:0.15000000596046448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15"/>
  <p:tag name="KSO_WM_DIAGRAM_USE_COLOR_VALUE" val="{&quot;color_scheme&quot;:1,&quot;color_type&quot;:1,&quot;theme_color_indexes&quot;:[]}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3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405_1*l_h_i*1_1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38405_1*l_h_i*1_2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8405_1*l_h_i*1_3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8405_1*l_h_i*1_4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8405_1*l_h_i*1_5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05_1*l_h_f*1_2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05_1*l_h_f*1_3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05_1*l_h_f*1_1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405_1*l_h_f*1_5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05_1*l_h_f*1_4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05_1*l_h_i*1_1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405_1*l_h_i*1_2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405_1*l_h_i*1_3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05_1*l_h_i*1_4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405_1*l_h_i*1_5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56.05,&quot;left&quot;:31.9,&quot;top&quot;:84.9,&quot;width&quot;:919.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53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0_4*l_h_f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4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0_4*l_h_a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5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4*l_h_i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6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0_4*l_h_f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7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0_4*l_h_a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8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4*l_h_i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9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0_4*l_h_f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0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0_4*l_h_a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1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0_4*l_h_i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2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0_4*l_h_f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3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7920_4*l_h_a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4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7920_4*l_h_i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5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7920_4*l_h_f*1_5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6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7920_4*l_h_a*1_5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7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461.7159134099012,&quot;left&quot;:7.125039370078741,&quot;top&quot;:74.5250030517578,&quot;width&quot;:673.82496062992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7920_4*l_h_i*1_5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24_1*i*1"/>
  <p:tag name="KSO_WM_TEMPLATE_CATEGORY" val="custom"/>
  <p:tag name="KSO_WM_TEMPLATE_INDEX" val="20238324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24"/>
  <p:tag name="KSO_WM_UNIT_ID" val="custom20238324_1*a*1"/>
  <p:tag name="KSO_WM_UNIT_USESOURCEFORMAT_APPLY" val="1"/>
  <p:tag name="KSO_WM_UNIT_PRESET_TEXT" val="The title goes here"/>
</p:tagLst>
</file>

<file path=ppt/tags/tag170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743.9247244094488,&quot;left&quot;:8.125039370078593,&quot;top&quot;:24.225275590551174,&quot;width&quot;:1073.17496062992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7_3*l_h_a*1_1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743.9247244094488,&quot;left&quot;:8.125039370078593,&quot;top&quot;:24.225275590551174,&quot;width&quot;:1073.17496062992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7_3*l_h_f*1_1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743.9247244094488,&quot;left&quot;:8.125039370078593,&quot;top&quot;:24.225275590551174,&quot;width&quot;:1073.17496062992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7_3*l_h_a*1_2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743.9247244094488,&quot;left&quot;:8.125039370078593,&quot;top&quot;:24.225275590551174,&quot;width&quot;:1073.17496062992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7_3*l_h_f*1_2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743.9247244094488,&quot;left&quot;:8.125039370078593,&quot;top&quot;:24.225275590551174,&quot;width&quot;:1073.17496062992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7_3*l_h_a*1_3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50.25*180.95"/>
  <p:tag name="KSO_WM_SLIDE_POSITION" val="52.85*301.6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324"/>
  <p:tag name="KSO_WM_TEMPLATE_SUBCATEGORY" val="0"/>
  <p:tag name="KSO_WM_SLIDE_INDEX" val="1"/>
  <p:tag name="KSO_WM_TAG_VERSION" val="3.0"/>
  <p:tag name="KSO_WM_SLIDE_ID" val="custom20238324_1"/>
  <p:tag name="KSO_WM_SLIDE_ITEM_CNT" val="3"/>
  <p:tag name="resource_record_key" val="{&quot;65&quot;:[20238324],&quot;70&quot;:[3322370]}"/>
</p:tagLst>
</file>

<file path=ppt/tags/tag17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751*66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258_3*l_h_d*1_1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7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58_3*l_h_f*1_1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78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58_3*l_h_a*1_1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7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751*66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258_3*l_h_d*1_2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8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58_3*l_h_f*1_2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1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58_3*l_h_a*1_2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8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751*66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258_3*l_h_d*1_3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8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58_3*l_h_f*1_3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4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58_3*l_h_a*1_3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8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751*66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4_1"/>
  <p:tag name="KSO_WM_UNIT_ID" val="diagram20238258_3*l_h_d*1_4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86.xml><?xml version="1.0" encoding="utf-8"?>
<p:tagLst xmlns:p="http://schemas.openxmlformats.org/presentationml/2006/main">
  <p:tag name="KSO_WM_UNIT_TEXT_FILL_FORE_SCHEMECOLOR_INDEX_BRIGHTNESS" val="0.15"/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VIRTUALLY_FRAME" val="{&quot;height&quot;:457.4687117519901,&quot;left&quot;:11.85,&quot;top&quot;:85.45000305175782,&quot;width&quot;:939.3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0.949999988079071,&quot;transparency&quot;:1},{&quot;brightness&quot;:0,&quot;colorType&quot;:1,&quot;foreColorIndex&quot;:5,&quot;pos&quot;:0.05000000074505806,&quot;transparency&quot;:1},{&quot;brightness&quot;:0,&quot;colorType&quot;:1,&quot;foreColorIndex&quot;:5,&quot;pos&quot;:1,&quot;transparency&quot;:0.5}],&quot;type&quot;:2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58_3*l_h_a*1_4_1"/>
  <p:tag name="KSO_WM_TEMPLATE_CATEGORY" val="diagram"/>
  <p:tag name="KSO_WM_TEMPLATE_INDEX" val="20238258"/>
  <p:tag name="KSO_WM_UNIT_LAYERLEVEL" val="1_1_1"/>
  <p:tag name="KSO_WM_TAG_VERSION" val="3.0"/>
  <p:tag name="KSO_WM_BEAUTIFY_FLAG" val="#wm#"/>
  <p:tag name="KSO_WM_UNIT_PRESET_TEXT" val="Title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8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85*9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298_2*l_h_d*1_2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LINE_FORE_SCHEMECOLOR_INDEX" val="1"/>
  <p:tag name="KSO_WM_DIAGRAM_USE_COLOR_VALUE" val="{&quot;color_scheme&quot;:1,&quot;color_type&quot;:1,&quot;theme_color_indexes&quot;:[]}"/>
</p:tagLst>
</file>

<file path=ppt/tags/tag18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85*9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298_2*l_h_d*1_1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LINE_FORE_SCHEMECOLOR_INDEX" val="1"/>
  <p:tag name="KSO_WM_DIAGRAM_USE_COLOR_VALUE" val="{&quot;color_scheme&quot;:1,&quot;color_type&quot;:1,&quot;theme_color_indexes&quot;:[]}"/>
</p:tagLst>
</file>

<file path=ppt/tags/tag18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85*9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298_2*l_h_d*1_3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LINE_FORE_SCHEMECOLOR_INDEX" val="1"/>
  <p:tag name="KSO_WM_DIAGRAM_USE_COLOR_VALUE" val="{&quot;color_scheme&quot;:1,&quot;color_type&quot;:1,&quot;theme_color_indexes&quot;:[]}"/>
</p:tagLst>
</file>

<file path=ppt/tags/tag19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98_2*l_h_f*1_1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98_2*l_h_f*1_2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98_2*l_h_f*1_3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98_2*l_h_a*1_2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98_2*l_h_a*1_3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5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98_2*l_h_a*1_1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98_2*l_h_i*1_2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98_2*l_h_i*1_3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TEXT_FILL_FORE_SCHEMECOLOR_INDEX_BRIGHTNESS" val="0.15"/>
  <p:tag name="KSO_WM_DIAGRAM_MAX_ITEMCNT" val="4"/>
  <p:tag name="KSO_WM_DIAGRAM_MIN_ITEMCNT" val="2"/>
  <p:tag name="KSO_WM_DIAGRAM_VIRTUALLY_FRAME" val="{&quot;height&quot;:444.4321258544922,&quot;left&quot;:11.75,&quot;top&quot;:83.95,&quot;width&quot;:934.9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98_2*l_h_i*1_1_1"/>
  <p:tag name="KSO_WM_TEMPLATE_CATEGORY" val="diagram"/>
  <p:tag name="KSO_WM_TEMPLATE_INDEX" val="20238298"/>
  <p:tag name="KSO_WM_UNIT_LAYERLEVEL" val="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2_1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4_1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1_1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3_1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20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3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2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3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3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0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3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2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3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3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3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2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3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3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51_3*l_h_i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2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51_3*l_h_f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8251_3*l_h_a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8.01610739880664,&quot;left&quot;:31.96803149606294,&quot;top&quot;:76.43389260119338,&quot;width&quot;:911.8654324864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245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51_9*a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THANKS"/>
</p:tagLst>
</file>

<file path=ppt/tags/tag218.xml><?xml version="1.0" encoding="utf-8"?>
<p:tagLst xmlns:p="http://schemas.openxmlformats.org/presentationml/2006/main">
  <p:tag name="KSO_WM_SPECIAL_SOURCE" val="bdnull"/>
  <p:tag name="KSO_WM_SLIDE_ID" val="custom20238151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151"/>
  <p:tag name="KSO_WM_SLIDE_LAYOUT" val="a_f"/>
  <p:tag name="KSO_WM_SLIDE_LAYOUT_CNT" val="1_1"/>
</p:tagLst>
</file>

<file path=ppt/tags/tag219.xml><?xml version="1.0" encoding="utf-8"?>
<p:tagLst xmlns:p="http://schemas.openxmlformats.org/presentationml/2006/main">
  <p:tag name="resource_record_key" val="{&quot;65&quot;:[20238324],&quot;70&quot;:[3322370,3321448,3321518,3322830,3322082,3322372,3322046,3320299,3322160,3322418,3322932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0325-4">
      <a:dk1>
        <a:srgbClr val="333333"/>
      </a:dk1>
      <a:lt1>
        <a:sysClr val="window" lastClr="FFFFFF"/>
      </a:lt1>
      <a:dk2>
        <a:srgbClr val="000000"/>
      </a:dk2>
      <a:lt2>
        <a:srgbClr val="FFF6E5"/>
      </a:lt2>
      <a:accent1>
        <a:srgbClr val="F7C869"/>
      </a:accent1>
      <a:accent2>
        <a:srgbClr val="F69D4C"/>
      </a:accent2>
      <a:accent3>
        <a:srgbClr val="7DBDFB"/>
      </a:accent3>
      <a:accent4>
        <a:srgbClr val="3E66D6"/>
      </a:accent4>
      <a:accent5>
        <a:srgbClr val="EBAC94"/>
      </a:accent5>
      <a:accent6>
        <a:srgbClr val="DD8B70"/>
      </a:accent6>
      <a:hlink>
        <a:srgbClr val="0026E5"/>
      </a:hlink>
      <a:folHlink>
        <a:srgbClr val="7E1FAD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5452</Words>
  <Application>WPS Presentation</Application>
  <PresentationFormat>Widescreen</PresentationFormat>
  <Paragraphs>314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江城圆体 400W</vt:lpstr>
      <vt:lpstr>Lucida Bright</vt:lpstr>
      <vt:lpstr>Calibri</vt:lpstr>
      <vt:lpstr>Inter</vt:lpstr>
      <vt:lpstr>Segoe Print</vt:lpstr>
      <vt:lpstr>Inter Bold</vt:lpstr>
      <vt:lpstr>Microsoft YaHei</vt:lpstr>
      <vt:lpstr>Arial Unicode MS</vt:lpstr>
      <vt:lpstr>Calibri Light</vt:lpstr>
      <vt:lpstr>Office Theme</vt:lpstr>
      <vt:lpstr>3_Office Theme</vt:lpstr>
      <vt:lpstr>INVENTORY SUPPLY CHAIN MANAGEMENT</vt:lpstr>
      <vt:lpstr>Business Challenges &amp; Strategic Objectives</vt:lpstr>
      <vt:lpstr>Dataset Overview</vt:lpstr>
      <vt:lpstr>️ Power Query Editor – Data Preparation</vt:lpstr>
      <vt:lpstr>PowerPoint 演示文稿</vt:lpstr>
      <vt:lpstr>     OVERVIEW</vt:lpstr>
      <vt:lpstr>             Supply Chain &amp; Shipping Overview</vt:lpstr>
      <vt:lpstr>Product Performance</vt:lpstr>
      <vt:lpstr>Why This Project? | Value | Impact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sree</dc:creator>
  <cp:lastModifiedBy>indhu mathi</cp:lastModifiedBy>
  <cp:revision>9</cp:revision>
  <dcterms:created xsi:type="dcterms:W3CDTF">2025-07-23T00:59:00Z</dcterms:created>
  <dcterms:modified xsi:type="dcterms:W3CDTF">2026-02-14T18:19:00Z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1F7ED0C39EA646D88F4DACC57D3D82C9_13</vt:lpwstr>
  </property>
  <property fmtid="{D5CDD505-2E9C-101B-9397-08002B2CF9AE}" pid="3" name="KSOProductBuildVer">
    <vt:lpwstr>1033-12.2.0.23155</vt:lpwstr>
  </property>
</Properties>
</file>